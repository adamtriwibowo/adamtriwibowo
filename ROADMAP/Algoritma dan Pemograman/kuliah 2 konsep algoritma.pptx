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6"/>
  </p:notesMasterIdLst>
  <p:sldIdLst>
    <p:sldId id="425" r:id="rId2"/>
    <p:sldId id="437" r:id="rId3"/>
    <p:sldId id="438" r:id="rId4"/>
    <p:sldId id="261" r:id="rId5"/>
    <p:sldId id="260" r:id="rId6"/>
    <p:sldId id="262" r:id="rId7"/>
    <p:sldId id="439" r:id="rId8"/>
    <p:sldId id="263" r:id="rId9"/>
    <p:sldId id="440" r:id="rId10"/>
    <p:sldId id="441" r:id="rId11"/>
    <p:sldId id="442" r:id="rId12"/>
    <p:sldId id="443" r:id="rId13"/>
    <p:sldId id="444" r:id="rId14"/>
    <p:sldId id="427" r:id="rId15"/>
    <p:sldId id="428" r:id="rId16"/>
    <p:sldId id="446" r:id="rId17"/>
    <p:sldId id="447" r:id="rId18"/>
    <p:sldId id="448" r:id="rId19"/>
    <p:sldId id="449" r:id="rId20"/>
    <p:sldId id="452" r:id="rId21"/>
    <p:sldId id="451" r:id="rId22"/>
    <p:sldId id="259" r:id="rId23"/>
    <p:sldId id="264" r:id="rId24"/>
    <p:sldId id="426" r:id="rId25"/>
    <p:sldId id="430" r:id="rId26"/>
    <p:sldId id="431" r:id="rId27"/>
    <p:sldId id="432" r:id="rId28"/>
    <p:sldId id="433" r:id="rId29"/>
    <p:sldId id="434" r:id="rId30"/>
    <p:sldId id="435" r:id="rId31"/>
    <p:sldId id="436" r:id="rId32"/>
    <p:sldId id="429" r:id="rId33"/>
    <p:sldId id="445" r:id="rId34"/>
    <p:sldId id="417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80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1B13EB-318F-4CC8-BF40-9FFCC6E2187A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5A0C2F-A67B-4FB8-9369-669C756686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94039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8AB8FE-89B4-465C-9C7F-5CAA55F59C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289D0F-6098-40AC-BC08-C2420E8FC6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E0529F-EFA0-4123-9687-D095729CCD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FD116-C932-4075-BA92-0DBBE39BFA1E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D20813-1AE1-41ED-97A7-A4EE00ACD4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9224F1-631C-4A2B-8F37-497F562F58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B33AD-23FE-4454-AC4E-F373A6C39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5149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99629-3A15-4BE7-99E3-57D057F6A1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97818D-DB60-4ABA-B363-75851BF137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698670-A966-4CA0-B596-D737699D91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FD116-C932-4075-BA92-0DBBE39BFA1E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82406D-E00D-4FAB-A7D6-1F0F6447AB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5CF3BA-6626-4F39-AF71-EB536DC1E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B33AD-23FE-4454-AC4E-F373A6C39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8188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76AD1A-7092-4D42-9A91-E4DC8378EC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5D64BA-958F-4CC6-8DAB-E95887DDA9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3AB412-935D-4A96-9D3A-9315344393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FD116-C932-4075-BA92-0DBBE39BFA1E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1E038D-8EFE-4C2E-A587-91AA53720A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8BF540-6829-4781-878E-46CC67BC4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B33AD-23FE-4454-AC4E-F373A6C39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3645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917A95-3DA0-4A69-BFA1-C63C9ECA1D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EA5279-8ACD-458F-B82E-5C41A52DD9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89BCAD-8B1D-4B69-9671-BFF111F7EA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5584B2-367D-4915-87F4-6547DABCF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FD116-C932-4075-BA92-0DBBE39BFA1E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95687B-4536-4E65-9C87-DBF11F351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985BED-1122-4A86-89C0-D13D28B5F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B33AD-23FE-4454-AC4E-F373A6C39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3114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F596D9-0ACE-44A8-AC30-6952947D25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F1FC31-D250-4113-AC6F-B14D9B5465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C8F77A-49EE-434C-AC9E-AB1BBCECF3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2BF929F-6D4F-438C-B07B-A95763CD4E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A6DB71A-8E00-4E12-9324-D057538F10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838371D-30BE-4F1F-B610-5ABC48A5B0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FD116-C932-4075-BA92-0DBBE39BFA1E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15E71E9-201B-4116-B369-2017E1D355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2C2FD26-3537-4852-9B02-2EA75D5199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B33AD-23FE-4454-AC4E-F373A6C39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3631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88413B-3C04-45AC-BF03-4ABB1252BF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BD81EC-EE2A-411F-94CE-CA3FA7204B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FD116-C932-4075-BA92-0DBBE39BFA1E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DF714B-63F0-4E99-B517-3504AFB1F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76C0AD-6C59-4888-ADDD-B7886915A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B33AD-23FE-4454-AC4E-F373A6C39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0072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F189226-16FF-4133-B4FB-9AF952CBD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FD116-C932-4075-BA92-0DBBE39BFA1E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4C33DE6-8BA4-4DCF-A1B8-0CAB7BAFD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9A29EE-91B5-404C-A039-C8EC37FEF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B33AD-23FE-4454-AC4E-F373A6C39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3383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163EA2-4C6C-4BA1-992A-7DBEDFBFE8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D79CFC-FCEB-4E1A-8D20-7467020203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73C0DC-9128-4C9B-84C1-32661BFC6B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42A458-00FF-47F3-A103-6EC65EE050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FD116-C932-4075-BA92-0DBBE39BFA1E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62FDB9-E859-4DFA-8A4B-FD830AD7F8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72F8B1-D9CB-4AFB-9D4E-E0DCCE81F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B33AD-23FE-4454-AC4E-F373A6C39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56188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4129A-2B31-41AA-8ACC-D0E66DCB67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D3FC386-1A7D-482B-9DDE-2695A00B75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F2BAEE-0C97-4063-9ECD-8C1D0554FA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C7962C-656A-4D4E-830D-97BE4E2D47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FD116-C932-4075-BA92-0DBBE39BFA1E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41BF07-9844-4614-A99B-31997A47F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710ED0-5ABE-4920-B54C-C8EEF2F82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B33AD-23FE-4454-AC4E-F373A6C39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10242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306001-A3C8-43A7-8C86-B318E70DA7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5A0811-092B-49BB-B805-70FE64B627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9690BD-DF8D-4711-B188-244A63EEB4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FD116-C932-4075-BA92-0DBBE39BFA1E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72DDCB-292C-4DE8-9EE1-05ACC0348F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BB8635-A96F-4311-A2BB-E2B21BC61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B33AD-23FE-4454-AC4E-F373A6C39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4546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F84EFC-35F9-4175-BB6D-6B47CA835D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749CE9-002A-4231-B3F9-9B3CBEE69D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22D38-7DC5-48AB-8EB5-34F399A0B3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FD116-C932-4075-BA92-0DBBE39BFA1E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6C06E2-C035-44B7-B6FF-93D4A1CE2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4D8E40-CEF5-4396-BFF2-052BD7B119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B33AD-23FE-4454-AC4E-F373A6C39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6066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44C10CA-FCA1-43F1-82A9-B8CE1A03D1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ADADC1-DCA2-4D10-90E4-C7DD5F8AB5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5634D9-71C6-4E27-B1EE-41DCE56D6D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FFD116-C932-4075-BA92-0DBBE39BFA1E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3D035A-3835-460F-8683-E29048721B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EC98DC-2B55-4B2A-B609-46FF246E6D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DB33AD-23FE-4454-AC4E-F373A6C39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37625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2F44CC5-18B9-4F19-B22C-27E88A5008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4261" y="98474"/>
            <a:ext cx="7303477" cy="4382086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18989E18-4A57-485D-A18A-3E847CC57EF9}"/>
              </a:ext>
            </a:extLst>
          </p:cNvPr>
          <p:cNvSpPr txBox="1">
            <a:spLocks/>
          </p:cNvSpPr>
          <p:nvPr/>
        </p:nvSpPr>
        <p:spPr>
          <a:xfrm>
            <a:off x="1684605" y="4480560"/>
            <a:ext cx="9144000" cy="132541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KULIAH 2 KONSEP ALGORITMA PEMOGRAMAN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1A2F6A-0318-4F96-BE72-08E52DF9B8A5}"/>
              </a:ext>
            </a:extLst>
          </p:cNvPr>
          <p:cNvSpPr txBox="1"/>
          <p:nvPr/>
        </p:nvSpPr>
        <p:spPr>
          <a:xfrm>
            <a:off x="3344593" y="5805976"/>
            <a:ext cx="609834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Dr Maulisa Oktiana</a:t>
            </a:r>
          </a:p>
        </p:txBody>
      </p:sp>
    </p:spTree>
    <p:extLst>
      <p:ext uri="{BB962C8B-B14F-4D97-AF65-F5344CB8AC3E}">
        <p14:creationId xmlns:p14="http://schemas.microsoft.com/office/powerpoint/2010/main" val="18991287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3CF8F1-CB9D-DD37-B2AA-43345FF733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057D33-8AE1-B12A-03C9-429B4C6483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Definisi</a:t>
            </a:r>
            <a:r>
              <a:rPr lang="en-US" dirty="0"/>
              <a:t> </a:t>
            </a:r>
            <a:r>
              <a:rPr lang="en-US" dirty="0" err="1"/>
              <a:t>Algoritma</a:t>
            </a:r>
            <a:r>
              <a:rPr lang="en-US" dirty="0"/>
              <a:t> dan </a:t>
            </a:r>
            <a:r>
              <a:rPr lang="en-US" dirty="0" err="1"/>
              <a:t>Pemograman</a:t>
            </a:r>
            <a:endParaRPr lang="en-US" dirty="0"/>
          </a:p>
          <a:p>
            <a:r>
              <a:rPr lang="en-US" dirty="0" err="1"/>
              <a:t>Algoritma</a:t>
            </a:r>
            <a:r>
              <a:rPr lang="en-US" dirty="0"/>
              <a:t> dan </a:t>
            </a:r>
            <a:r>
              <a:rPr lang="en-US" dirty="0" err="1"/>
              <a:t>Pemograman</a:t>
            </a:r>
            <a:endParaRPr lang="en-US" dirty="0"/>
          </a:p>
          <a:p>
            <a:r>
              <a:rPr lang="en-US" dirty="0" err="1"/>
              <a:t>Tahapan</a:t>
            </a:r>
            <a:r>
              <a:rPr lang="en-US" dirty="0"/>
              <a:t> </a:t>
            </a:r>
            <a:r>
              <a:rPr lang="en-US" dirty="0" err="1"/>
              <a:t>Pemograman</a:t>
            </a:r>
            <a:endParaRPr lang="en-US" dirty="0"/>
          </a:p>
          <a:p>
            <a:r>
              <a:rPr lang="en-US" dirty="0"/>
              <a:t>Software </a:t>
            </a:r>
            <a:r>
              <a:rPr lang="en-US" dirty="0" err="1"/>
              <a:t>simulasi</a:t>
            </a:r>
            <a:r>
              <a:rPr lang="en-US" dirty="0"/>
              <a:t> </a:t>
            </a:r>
          </a:p>
          <a:p>
            <a:r>
              <a:rPr lang="en-US" dirty="0" err="1"/>
              <a:t>Contoh</a:t>
            </a:r>
            <a:endParaRPr lang="en-US" dirty="0"/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40043479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8D249BB1-BA71-A979-599A-E6D06A4D382A}"/>
              </a:ext>
            </a:extLst>
          </p:cNvPr>
          <p:cNvGrpSpPr/>
          <p:nvPr/>
        </p:nvGrpSpPr>
        <p:grpSpPr>
          <a:xfrm>
            <a:off x="248095" y="2217720"/>
            <a:ext cx="8694507" cy="646331"/>
            <a:chOff x="318499" y="1563015"/>
            <a:chExt cx="8694507" cy="646331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66B07A6A-3185-C977-C7A0-B8B04A1C9F42}"/>
                </a:ext>
              </a:extLst>
            </p:cNvPr>
            <p:cNvSpPr txBox="1"/>
            <p:nvPr/>
          </p:nvSpPr>
          <p:spPr>
            <a:xfrm>
              <a:off x="2915294" y="1563015"/>
              <a:ext cx="6097712" cy="646331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r>
                <a:rPr lang="en-US" b="0" i="0" dirty="0" err="1">
                  <a:solidFill>
                    <a:srgbClr val="333366"/>
                  </a:solidFill>
                  <a:effectLst/>
                  <a:latin typeface="Helvetica Neue"/>
                </a:rPr>
                <a:t>langkah-langkah</a:t>
              </a:r>
              <a:r>
                <a:rPr lang="en-US" b="0" i="0" dirty="0">
                  <a:solidFill>
                    <a:srgbClr val="333366"/>
                  </a:solidFill>
                  <a:effectLst/>
                  <a:latin typeface="Helvetica Neue"/>
                </a:rPr>
                <a:t> yang </a:t>
              </a:r>
              <a:r>
                <a:rPr lang="en-US" b="0" i="0" dirty="0" err="1">
                  <a:solidFill>
                    <a:srgbClr val="333366"/>
                  </a:solidFill>
                  <a:effectLst/>
                  <a:latin typeface="Helvetica Neue"/>
                </a:rPr>
                <a:t>disusun</a:t>
              </a:r>
              <a:r>
                <a:rPr lang="en-US" b="0" i="0" dirty="0">
                  <a:solidFill>
                    <a:srgbClr val="333366"/>
                  </a:solidFill>
                  <a:effectLst/>
                  <a:latin typeface="Helvetica Neue"/>
                </a:rPr>
                <a:t> </a:t>
              </a:r>
              <a:r>
                <a:rPr lang="en-US" b="0" i="0" dirty="0" err="1">
                  <a:solidFill>
                    <a:srgbClr val="333366"/>
                  </a:solidFill>
                  <a:effectLst/>
                  <a:latin typeface="Helvetica Neue"/>
                </a:rPr>
                <a:t>secara</a:t>
              </a:r>
              <a:r>
                <a:rPr lang="en-US" b="0" i="0" dirty="0">
                  <a:solidFill>
                    <a:srgbClr val="333366"/>
                  </a:solidFill>
                  <a:effectLst/>
                  <a:latin typeface="Helvetica Neue"/>
                </a:rPr>
                <a:t> </a:t>
              </a:r>
              <a:r>
                <a:rPr lang="en-US" b="0" i="0" dirty="0" err="1">
                  <a:solidFill>
                    <a:srgbClr val="333366"/>
                  </a:solidFill>
                  <a:effectLst/>
                  <a:latin typeface="Helvetica Neue"/>
                </a:rPr>
                <a:t>tertulis</a:t>
              </a:r>
              <a:r>
                <a:rPr lang="en-US" b="0" i="0" dirty="0">
                  <a:solidFill>
                    <a:srgbClr val="333366"/>
                  </a:solidFill>
                  <a:effectLst/>
                  <a:latin typeface="Helvetica Neue"/>
                </a:rPr>
                <a:t> dan </a:t>
              </a:r>
              <a:r>
                <a:rPr lang="en-US" b="0" i="0" dirty="0" err="1">
                  <a:solidFill>
                    <a:srgbClr val="333366"/>
                  </a:solidFill>
                  <a:effectLst/>
                  <a:latin typeface="Helvetica Neue"/>
                </a:rPr>
                <a:t>berurutan</a:t>
              </a:r>
              <a:r>
                <a:rPr lang="en-US" b="0" i="0" dirty="0">
                  <a:solidFill>
                    <a:srgbClr val="333366"/>
                  </a:solidFill>
                  <a:effectLst/>
                  <a:latin typeface="Helvetica Neue"/>
                </a:rPr>
                <a:t> </a:t>
              </a:r>
              <a:r>
                <a:rPr lang="en-US" b="0" i="0" dirty="0" err="1">
                  <a:solidFill>
                    <a:srgbClr val="333366"/>
                  </a:solidFill>
                  <a:effectLst/>
                  <a:latin typeface="Helvetica Neue"/>
                </a:rPr>
                <a:t>untuk</a:t>
              </a:r>
              <a:r>
                <a:rPr lang="en-US" b="0" i="0" dirty="0">
                  <a:solidFill>
                    <a:srgbClr val="333366"/>
                  </a:solidFill>
                  <a:effectLst/>
                  <a:latin typeface="Helvetica Neue"/>
                </a:rPr>
                <a:t> </a:t>
              </a:r>
              <a:r>
                <a:rPr lang="en-US" b="0" i="0" dirty="0" err="1">
                  <a:solidFill>
                    <a:srgbClr val="333366"/>
                  </a:solidFill>
                  <a:effectLst/>
                  <a:latin typeface="Helvetica Neue"/>
                </a:rPr>
                <a:t>menyelesaikan</a:t>
              </a:r>
              <a:r>
                <a:rPr lang="en-US" b="0" i="0" dirty="0">
                  <a:solidFill>
                    <a:srgbClr val="333366"/>
                  </a:solidFill>
                  <a:effectLst/>
                  <a:latin typeface="Helvetica Neue"/>
                </a:rPr>
                <a:t> </a:t>
              </a:r>
              <a:r>
                <a:rPr lang="en-US" b="0" i="0" dirty="0" err="1">
                  <a:solidFill>
                    <a:srgbClr val="333366"/>
                  </a:solidFill>
                  <a:effectLst/>
                  <a:latin typeface="Helvetica Neue"/>
                </a:rPr>
                <a:t>suatu</a:t>
              </a:r>
              <a:r>
                <a:rPr lang="en-US" b="0" i="0" dirty="0">
                  <a:solidFill>
                    <a:srgbClr val="333366"/>
                  </a:solidFill>
                  <a:effectLst/>
                  <a:latin typeface="Helvetica Neue"/>
                </a:rPr>
                <a:t> </a:t>
              </a:r>
              <a:r>
                <a:rPr lang="en-US" b="0" i="0" dirty="0" err="1">
                  <a:solidFill>
                    <a:srgbClr val="333366"/>
                  </a:solidFill>
                  <a:effectLst/>
                  <a:latin typeface="Helvetica Neue"/>
                </a:rPr>
                <a:t>masalah</a:t>
              </a:r>
              <a:endParaRPr lang="en-US" b="0" i="0" dirty="0">
                <a:solidFill>
                  <a:srgbClr val="333366"/>
                </a:solidFill>
                <a:effectLst/>
                <a:latin typeface="Helvetica Neue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501B8F99-643B-8031-774E-3B3947B1CA23}"/>
                </a:ext>
              </a:extLst>
            </p:cNvPr>
            <p:cNvSpPr txBox="1"/>
            <p:nvPr/>
          </p:nvSpPr>
          <p:spPr>
            <a:xfrm>
              <a:off x="318499" y="1655349"/>
              <a:ext cx="2301411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400" b="0" i="0" dirty="0" err="1">
                  <a:solidFill>
                    <a:srgbClr val="FF0000"/>
                  </a:solidFill>
                  <a:effectLst/>
                  <a:latin typeface="Gill Sans Ultra Bold" panose="020B0A02020104020203" pitchFamily="34" charset="0"/>
                </a:rPr>
                <a:t>Algoritma</a:t>
              </a:r>
              <a:endParaRPr lang="en-ID" sz="2400" dirty="0">
                <a:solidFill>
                  <a:srgbClr val="FF0000"/>
                </a:solidFill>
                <a:latin typeface="Gill Sans Ultra Bold" panose="020B0A02020104020203" pitchFamily="34" charset="0"/>
              </a:endParaRPr>
            </a:p>
          </p:txBody>
        </p:sp>
        <p:sp>
          <p:nvSpPr>
            <p:cNvPr id="6" name="Arrow: Right 5">
              <a:extLst>
                <a:ext uri="{FF2B5EF4-FFF2-40B4-BE49-F238E27FC236}">
                  <a16:creationId xmlns:a16="http://schemas.microsoft.com/office/drawing/2014/main" id="{AF3302E1-B367-2CB6-C429-6250AC0A3862}"/>
                </a:ext>
              </a:extLst>
            </p:cNvPr>
            <p:cNvSpPr/>
            <p:nvPr/>
          </p:nvSpPr>
          <p:spPr>
            <a:xfrm>
              <a:off x="2476072" y="1783441"/>
              <a:ext cx="359595" cy="230833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CAB447BE-4C2E-FB35-B6B3-D04DFCCBD2CE}"/>
              </a:ext>
            </a:extLst>
          </p:cNvPr>
          <p:cNvSpPr/>
          <p:nvPr/>
        </p:nvSpPr>
        <p:spPr>
          <a:xfrm>
            <a:off x="585627" y="256854"/>
            <a:ext cx="11250202" cy="64633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 err="1"/>
              <a:t>Definisi</a:t>
            </a:r>
            <a:r>
              <a:rPr lang="en-US" sz="4400" dirty="0"/>
              <a:t> </a:t>
            </a:r>
            <a:r>
              <a:rPr lang="en-US" sz="4400" dirty="0" err="1"/>
              <a:t>Algoritma</a:t>
            </a:r>
            <a:r>
              <a:rPr lang="en-US" sz="4400" dirty="0"/>
              <a:t> dan </a:t>
            </a:r>
            <a:r>
              <a:rPr lang="en-US" sz="4400" dirty="0" err="1"/>
              <a:t>Pemograman</a:t>
            </a:r>
            <a:endParaRPr lang="en-US" sz="4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D7F1170-571D-7333-DD35-BFD137DC4587}"/>
              </a:ext>
            </a:extLst>
          </p:cNvPr>
          <p:cNvSpPr txBox="1"/>
          <p:nvPr/>
        </p:nvSpPr>
        <p:spPr>
          <a:xfrm>
            <a:off x="585626" y="3654140"/>
            <a:ext cx="1132212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 err="1">
                <a:solidFill>
                  <a:srgbClr val="333366"/>
                </a:solidFill>
                <a:effectLst/>
                <a:highlight>
                  <a:srgbClr val="FFFF00"/>
                </a:highlight>
                <a:latin typeface="Helvetica Neue"/>
              </a:rPr>
              <a:t>Algoritma</a:t>
            </a:r>
            <a:r>
              <a:rPr lang="en-US" b="0" i="0" dirty="0">
                <a:solidFill>
                  <a:srgbClr val="333366"/>
                </a:solidFill>
                <a:effectLst/>
                <a:highlight>
                  <a:srgbClr val="FFFF00"/>
                </a:highlight>
                <a:latin typeface="Helvetica Neue"/>
              </a:rPr>
              <a:t> </a:t>
            </a:r>
            <a:r>
              <a:rPr lang="en-US" b="0" i="0" dirty="0" err="1">
                <a:solidFill>
                  <a:srgbClr val="333366"/>
                </a:solidFill>
                <a:effectLst/>
                <a:highlight>
                  <a:srgbClr val="FFFF00"/>
                </a:highlight>
                <a:latin typeface="Helvetica Neue"/>
              </a:rPr>
              <a:t>Pemrograman</a:t>
            </a:r>
            <a:r>
              <a:rPr lang="en-US" b="0" i="0" dirty="0">
                <a:solidFill>
                  <a:srgbClr val="333366"/>
                </a:solidFill>
                <a:effectLst/>
                <a:highlight>
                  <a:srgbClr val="FFFF00"/>
                </a:highlight>
                <a:latin typeface="Helvetica Neue"/>
              </a:rPr>
              <a:t> </a:t>
            </a:r>
            <a:r>
              <a:rPr lang="en-US" b="0" i="0" dirty="0">
                <a:solidFill>
                  <a:srgbClr val="333366"/>
                </a:solidFill>
                <a:effectLst/>
                <a:latin typeface="Helvetica Neue"/>
              </a:rPr>
              <a:t>: </a:t>
            </a:r>
            <a:r>
              <a:rPr lang="en-US" b="0" i="0" dirty="0" err="1">
                <a:solidFill>
                  <a:srgbClr val="333366"/>
                </a:solidFill>
                <a:effectLst/>
                <a:latin typeface="Helvetica Neue"/>
              </a:rPr>
              <a:t>langkah-langkah</a:t>
            </a:r>
            <a:r>
              <a:rPr lang="en-US" b="0" i="0" dirty="0">
                <a:solidFill>
                  <a:srgbClr val="333366"/>
                </a:solidFill>
                <a:effectLst/>
                <a:latin typeface="Helvetica Neue"/>
              </a:rPr>
              <a:t> yang </a:t>
            </a:r>
            <a:r>
              <a:rPr lang="en-US" b="0" i="0" dirty="0" err="1">
                <a:solidFill>
                  <a:srgbClr val="333366"/>
                </a:solidFill>
                <a:effectLst/>
                <a:latin typeface="Helvetica Neue"/>
              </a:rPr>
              <a:t>ditulis</a:t>
            </a:r>
            <a:r>
              <a:rPr lang="en-US" b="0" i="0" dirty="0">
                <a:solidFill>
                  <a:srgbClr val="333366"/>
                </a:solidFill>
                <a:effectLst/>
                <a:latin typeface="Helvetica Neue"/>
              </a:rPr>
              <a:t> </a:t>
            </a:r>
            <a:r>
              <a:rPr lang="en-US" b="0" i="0" dirty="0" err="1">
                <a:solidFill>
                  <a:srgbClr val="333366"/>
                </a:solidFill>
                <a:effectLst/>
                <a:latin typeface="Helvetica Neue"/>
              </a:rPr>
              <a:t>secara</a:t>
            </a:r>
            <a:r>
              <a:rPr lang="en-US" b="0" i="0" dirty="0">
                <a:solidFill>
                  <a:srgbClr val="333366"/>
                </a:solidFill>
                <a:effectLst/>
                <a:latin typeface="Helvetica Neue"/>
              </a:rPr>
              <a:t> </a:t>
            </a:r>
            <a:r>
              <a:rPr lang="en-US" b="0" i="0" dirty="0" err="1">
                <a:solidFill>
                  <a:srgbClr val="333366"/>
                </a:solidFill>
                <a:effectLst/>
                <a:latin typeface="Helvetica Neue"/>
              </a:rPr>
              <a:t>berurutan</a:t>
            </a:r>
            <a:r>
              <a:rPr lang="en-US" b="0" i="0" dirty="0">
                <a:solidFill>
                  <a:srgbClr val="333366"/>
                </a:solidFill>
                <a:effectLst/>
                <a:latin typeface="Helvetica Neue"/>
              </a:rPr>
              <a:t> </a:t>
            </a:r>
            <a:r>
              <a:rPr lang="en-US" b="0" i="0" dirty="0" err="1">
                <a:solidFill>
                  <a:srgbClr val="333366"/>
                </a:solidFill>
                <a:effectLst/>
                <a:latin typeface="Helvetica Neue"/>
              </a:rPr>
              <a:t>untuk</a:t>
            </a:r>
            <a:r>
              <a:rPr lang="en-US" b="0" i="0" dirty="0">
                <a:solidFill>
                  <a:srgbClr val="333366"/>
                </a:solidFill>
                <a:effectLst/>
                <a:latin typeface="Helvetica Neue"/>
              </a:rPr>
              <a:t> </a:t>
            </a:r>
            <a:r>
              <a:rPr lang="en-US" b="0" i="0" dirty="0" err="1">
                <a:solidFill>
                  <a:srgbClr val="333366"/>
                </a:solidFill>
                <a:effectLst/>
                <a:latin typeface="Helvetica Neue"/>
              </a:rPr>
              <a:t>menyelesaikan</a:t>
            </a:r>
            <a:r>
              <a:rPr lang="en-US" b="0" i="0" dirty="0">
                <a:solidFill>
                  <a:srgbClr val="333366"/>
                </a:solidFill>
                <a:effectLst/>
                <a:latin typeface="Helvetica Neue"/>
              </a:rPr>
              <a:t> </a:t>
            </a:r>
            <a:r>
              <a:rPr lang="en-US" b="0" i="0" dirty="0" err="1">
                <a:solidFill>
                  <a:srgbClr val="333366"/>
                </a:solidFill>
                <a:effectLst/>
                <a:latin typeface="Helvetica Neue"/>
              </a:rPr>
              <a:t>masalah</a:t>
            </a:r>
            <a:r>
              <a:rPr lang="en-US" b="0" i="0" dirty="0">
                <a:solidFill>
                  <a:srgbClr val="333366"/>
                </a:solidFill>
                <a:effectLst/>
                <a:latin typeface="Helvetica Neue"/>
              </a:rPr>
              <a:t> </a:t>
            </a:r>
            <a:r>
              <a:rPr lang="en-US" b="0" i="0" dirty="0" err="1">
                <a:solidFill>
                  <a:srgbClr val="333366"/>
                </a:solidFill>
                <a:effectLst/>
                <a:latin typeface="Helvetica Neue"/>
              </a:rPr>
              <a:t>pemrograman</a:t>
            </a:r>
            <a:r>
              <a:rPr lang="en-US" b="0" i="0" dirty="0">
                <a:solidFill>
                  <a:srgbClr val="333366"/>
                </a:solidFill>
                <a:effectLst/>
                <a:latin typeface="Helvetica Neue"/>
              </a:rPr>
              <a:t> </a:t>
            </a:r>
            <a:r>
              <a:rPr lang="en-US" b="0" i="0" dirty="0" err="1">
                <a:solidFill>
                  <a:srgbClr val="333366"/>
                </a:solidFill>
                <a:effectLst/>
                <a:latin typeface="Helvetica Neue"/>
              </a:rPr>
              <a:t>komputer</a:t>
            </a:r>
            <a:r>
              <a:rPr lang="en-US" b="0" i="0" dirty="0">
                <a:solidFill>
                  <a:srgbClr val="333366"/>
                </a:solidFill>
                <a:effectLst/>
                <a:latin typeface="Helvetica Neue"/>
              </a:rPr>
              <a:t>.</a:t>
            </a:r>
          </a:p>
          <a:p>
            <a:r>
              <a:rPr lang="en-ID" dirty="0" err="1">
                <a:solidFill>
                  <a:srgbClr val="00B0F0"/>
                </a:solidFill>
              </a:rPr>
              <a:t>setiap</a:t>
            </a:r>
            <a:r>
              <a:rPr lang="en-ID" dirty="0">
                <a:solidFill>
                  <a:srgbClr val="00B0F0"/>
                </a:solidFill>
              </a:rPr>
              <a:t> program </a:t>
            </a:r>
            <a:r>
              <a:rPr lang="en-ID" dirty="0" err="1">
                <a:solidFill>
                  <a:srgbClr val="00B0F0"/>
                </a:solidFill>
              </a:rPr>
              <a:t>komputer</a:t>
            </a:r>
            <a:r>
              <a:rPr lang="en-ID" dirty="0">
                <a:solidFill>
                  <a:srgbClr val="00B0F0"/>
                </a:solidFill>
              </a:rPr>
              <a:t> </a:t>
            </a:r>
            <a:r>
              <a:rPr lang="en-ID" dirty="0" err="1">
                <a:solidFill>
                  <a:srgbClr val="00B0F0"/>
                </a:solidFill>
              </a:rPr>
              <a:t>seperti</a:t>
            </a:r>
            <a:r>
              <a:rPr lang="en-ID" dirty="0">
                <a:solidFill>
                  <a:srgbClr val="00B0F0"/>
                </a:solidFill>
              </a:rPr>
              <a:t> software, apps, </a:t>
            </a:r>
            <a:r>
              <a:rPr lang="en-ID" dirty="0" err="1">
                <a:solidFill>
                  <a:srgbClr val="00B0F0"/>
                </a:solidFill>
              </a:rPr>
              <a:t>hingga</a:t>
            </a:r>
            <a:r>
              <a:rPr lang="en-ID" dirty="0">
                <a:solidFill>
                  <a:srgbClr val="00B0F0"/>
                </a:solidFill>
              </a:rPr>
              <a:t> </a:t>
            </a:r>
            <a:r>
              <a:rPr lang="en-ID" dirty="0" err="1">
                <a:solidFill>
                  <a:srgbClr val="00B0F0"/>
                </a:solidFill>
              </a:rPr>
              <a:t>sistem</a:t>
            </a:r>
            <a:r>
              <a:rPr lang="en-ID" dirty="0">
                <a:solidFill>
                  <a:srgbClr val="00B0F0"/>
                </a:solidFill>
              </a:rPr>
              <a:t> </a:t>
            </a:r>
            <a:r>
              <a:rPr lang="en-ID" dirty="0" err="1">
                <a:solidFill>
                  <a:srgbClr val="00B0F0"/>
                </a:solidFill>
              </a:rPr>
              <a:t>operasi</a:t>
            </a:r>
            <a:r>
              <a:rPr lang="en-ID" dirty="0">
                <a:solidFill>
                  <a:srgbClr val="00B0F0"/>
                </a:solidFill>
              </a:rPr>
              <a:t> </a:t>
            </a:r>
            <a:r>
              <a:rPr lang="en-ID" dirty="0" err="1">
                <a:solidFill>
                  <a:srgbClr val="00B0F0"/>
                </a:solidFill>
              </a:rPr>
              <a:t>dibangun</a:t>
            </a:r>
            <a:r>
              <a:rPr lang="en-ID" dirty="0">
                <a:solidFill>
                  <a:srgbClr val="00B0F0"/>
                </a:solidFill>
              </a:rPr>
              <a:t> </a:t>
            </a:r>
            <a:r>
              <a:rPr lang="en-ID" dirty="0" err="1">
                <a:solidFill>
                  <a:srgbClr val="00B0F0"/>
                </a:solidFill>
              </a:rPr>
              <a:t>dari</a:t>
            </a:r>
            <a:r>
              <a:rPr lang="en-ID" dirty="0">
                <a:solidFill>
                  <a:srgbClr val="00B0F0"/>
                </a:solidFill>
              </a:rPr>
              <a:t> </a:t>
            </a:r>
            <a:r>
              <a:rPr lang="en-ID" dirty="0" err="1">
                <a:solidFill>
                  <a:srgbClr val="00B0F0"/>
                </a:solidFill>
              </a:rPr>
              <a:t>algoritma</a:t>
            </a:r>
            <a:r>
              <a:rPr lang="en-ID" dirty="0">
                <a:solidFill>
                  <a:srgbClr val="00B0F0"/>
                </a:solidFill>
              </a:rPr>
              <a:t> </a:t>
            </a:r>
            <a:r>
              <a:rPr lang="en-ID" dirty="0" err="1">
                <a:solidFill>
                  <a:srgbClr val="00B0F0"/>
                </a:solidFill>
              </a:rPr>
              <a:t>pemrograman</a:t>
            </a:r>
            <a:endParaRPr lang="en-US" dirty="0">
              <a:solidFill>
                <a:srgbClr val="00B0F0"/>
              </a:solidFill>
              <a:latin typeface="Helvetica Neue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F4C0366-69BD-FA53-3CD3-4A62D708D5ED}"/>
              </a:ext>
            </a:extLst>
          </p:cNvPr>
          <p:cNvSpPr txBox="1"/>
          <p:nvPr/>
        </p:nvSpPr>
        <p:spPr>
          <a:xfrm>
            <a:off x="585626" y="5008225"/>
            <a:ext cx="1073649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b="0" i="0" dirty="0" err="1">
                <a:solidFill>
                  <a:srgbClr val="333366"/>
                </a:solidFill>
                <a:effectLst/>
                <a:latin typeface="Helvetica Neue"/>
              </a:rPr>
              <a:t>Dalam</a:t>
            </a:r>
            <a:r>
              <a:rPr lang="en-US" b="0" i="0" dirty="0">
                <a:solidFill>
                  <a:srgbClr val="333366"/>
                </a:solidFill>
                <a:effectLst/>
                <a:latin typeface="Helvetica Neue"/>
              </a:rPr>
              <a:t> </a:t>
            </a:r>
            <a:r>
              <a:rPr lang="en-US" b="0" i="0" dirty="0" err="1">
                <a:solidFill>
                  <a:srgbClr val="333366"/>
                </a:solidFill>
                <a:effectLst/>
                <a:latin typeface="Helvetica Neue"/>
              </a:rPr>
              <a:t>pemrograman</a:t>
            </a:r>
            <a:r>
              <a:rPr lang="en-US" b="0" i="0" dirty="0">
                <a:solidFill>
                  <a:srgbClr val="333366"/>
                </a:solidFill>
                <a:effectLst/>
                <a:latin typeface="Helvetica Neue"/>
              </a:rPr>
              <a:t> yang </a:t>
            </a:r>
            <a:r>
              <a:rPr lang="en-US" b="0" i="0" dirty="0" err="1">
                <a:solidFill>
                  <a:srgbClr val="333366"/>
                </a:solidFill>
                <a:effectLst/>
                <a:latin typeface="Helvetica Neue"/>
              </a:rPr>
              <a:t>sederhana</a:t>
            </a:r>
            <a:r>
              <a:rPr lang="en-US" b="0" i="0" dirty="0">
                <a:solidFill>
                  <a:srgbClr val="333366"/>
                </a:solidFill>
                <a:effectLst/>
                <a:latin typeface="Helvetica Neue"/>
              </a:rPr>
              <a:t>, </a:t>
            </a:r>
            <a:r>
              <a:rPr lang="en-US" b="0" i="0" dirty="0" err="1">
                <a:solidFill>
                  <a:srgbClr val="333366"/>
                </a:solidFill>
                <a:effectLst/>
                <a:latin typeface="Helvetica Neue"/>
              </a:rPr>
              <a:t>algoritma</a:t>
            </a:r>
            <a:r>
              <a:rPr lang="en-US" b="0" i="0" dirty="0">
                <a:solidFill>
                  <a:srgbClr val="333366"/>
                </a:solidFill>
                <a:effectLst/>
                <a:latin typeface="Helvetica Neue"/>
              </a:rPr>
              <a:t> </a:t>
            </a:r>
            <a:r>
              <a:rPr lang="en-US" b="0" i="0" dirty="0" err="1">
                <a:solidFill>
                  <a:srgbClr val="333366"/>
                </a:solidFill>
                <a:effectLst/>
                <a:latin typeface="Helvetica Neue"/>
              </a:rPr>
              <a:t>merupakan</a:t>
            </a:r>
            <a:r>
              <a:rPr lang="en-US" b="0" i="0" dirty="0">
                <a:solidFill>
                  <a:srgbClr val="333366"/>
                </a:solidFill>
                <a:effectLst/>
                <a:latin typeface="Helvetica Neue"/>
              </a:rPr>
              <a:t> </a:t>
            </a:r>
            <a:r>
              <a:rPr lang="en-US" b="0" i="0" dirty="0" err="1">
                <a:solidFill>
                  <a:srgbClr val="333366"/>
                </a:solidFill>
                <a:effectLst/>
                <a:latin typeface="Helvetica Neue"/>
              </a:rPr>
              <a:t>langkah</a:t>
            </a:r>
            <a:r>
              <a:rPr lang="en-US" b="0" i="0" dirty="0">
                <a:solidFill>
                  <a:srgbClr val="333366"/>
                </a:solidFill>
                <a:effectLst/>
                <a:latin typeface="Helvetica Neue"/>
              </a:rPr>
              <a:t> </a:t>
            </a:r>
            <a:r>
              <a:rPr lang="en-US" b="0" i="0" dirty="0" err="1">
                <a:solidFill>
                  <a:srgbClr val="333366"/>
                </a:solidFill>
                <a:effectLst/>
                <a:latin typeface="Helvetica Neue"/>
              </a:rPr>
              <a:t>pertama</a:t>
            </a:r>
            <a:r>
              <a:rPr lang="en-US" b="0" i="0" dirty="0">
                <a:solidFill>
                  <a:srgbClr val="333366"/>
                </a:solidFill>
                <a:effectLst/>
                <a:latin typeface="Helvetica Neue"/>
              </a:rPr>
              <a:t> yang </a:t>
            </a:r>
            <a:r>
              <a:rPr lang="en-US" b="0" i="0" dirty="0" err="1">
                <a:solidFill>
                  <a:srgbClr val="333366"/>
                </a:solidFill>
                <a:effectLst/>
                <a:latin typeface="Helvetica Neue"/>
              </a:rPr>
              <a:t>harus</a:t>
            </a:r>
            <a:r>
              <a:rPr lang="en-US" b="0" i="0" dirty="0">
                <a:solidFill>
                  <a:srgbClr val="333366"/>
                </a:solidFill>
                <a:effectLst/>
                <a:latin typeface="Helvetica Neue"/>
              </a:rPr>
              <a:t> </a:t>
            </a:r>
            <a:r>
              <a:rPr lang="en-US" b="0" i="0" dirty="0" err="1">
                <a:solidFill>
                  <a:srgbClr val="333366"/>
                </a:solidFill>
                <a:effectLst/>
                <a:latin typeface="Helvetica Neue"/>
              </a:rPr>
              <a:t>ditulis</a:t>
            </a:r>
            <a:r>
              <a:rPr lang="en-US" b="0" i="0" dirty="0">
                <a:solidFill>
                  <a:srgbClr val="333366"/>
                </a:solidFill>
                <a:effectLst/>
                <a:latin typeface="Helvetica Neue"/>
              </a:rPr>
              <a:t> </a:t>
            </a:r>
            <a:r>
              <a:rPr lang="en-US" b="0" i="0" dirty="0" err="1">
                <a:solidFill>
                  <a:srgbClr val="333366"/>
                </a:solidFill>
                <a:effectLst/>
                <a:latin typeface="Helvetica Neue"/>
              </a:rPr>
              <a:t>sebelum</a:t>
            </a:r>
            <a:r>
              <a:rPr lang="en-US" b="0" i="0" dirty="0">
                <a:solidFill>
                  <a:srgbClr val="333366"/>
                </a:solidFill>
                <a:effectLst/>
                <a:latin typeface="Helvetica Neue"/>
              </a:rPr>
              <a:t> </a:t>
            </a:r>
            <a:r>
              <a:rPr lang="en-US" b="0" i="0" dirty="0" err="1">
                <a:solidFill>
                  <a:srgbClr val="333366"/>
                </a:solidFill>
                <a:effectLst/>
                <a:latin typeface="Helvetica Neue"/>
              </a:rPr>
              <a:t>menuliskan</a:t>
            </a:r>
            <a:r>
              <a:rPr lang="en-US" b="0" i="0" dirty="0">
                <a:solidFill>
                  <a:srgbClr val="333366"/>
                </a:solidFill>
                <a:effectLst/>
                <a:latin typeface="Helvetica Neue"/>
              </a:rPr>
              <a:t> program</a:t>
            </a:r>
            <a:endParaRPr lang="en-US" dirty="0">
              <a:solidFill>
                <a:srgbClr val="333366"/>
              </a:solidFill>
              <a:latin typeface="Helvetica Neue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b="0" i="0" dirty="0" err="1">
                <a:solidFill>
                  <a:srgbClr val="333366"/>
                </a:solidFill>
                <a:effectLst/>
                <a:latin typeface="Helvetica Neue"/>
              </a:rPr>
              <a:t>Masalah</a:t>
            </a:r>
            <a:r>
              <a:rPr lang="en-US" b="0" i="0" dirty="0">
                <a:solidFill>
                  <a:srgbClr val="333366"/>
                </a:solidFill>
                <a:effectLst/>
                <a:latin typeface="Helvetica Neue"/>
              </a:rPr>
              <a:t> yang </a:t>
            </a:r>
            <a:r>
              <a:rPr lang="en-US" b="0" i="0" dirty="0" err="1">
                <a:solidFill>
                  <a:srgbClr val="333366"/>
                </a:solidFill>
                <a:effectLst/>
                <a:latin typeface="Helvetica Neue"/>
              </a:rPr>
              <a:t>dapat</a:t>
            </a:r>
            <a:r>
              <a:rPr lang="en-US" b="0" i="0" dirty="0">
                <a:solidFill>
                  <a:srgbClr val="333366"/>
                </a:solidFill>
                <a:effectLst/>
                <a:latin typeface="Helvetica Neue"/>
              </a:rPr>
              <a:t> </a:t>
            </a:r>
            <a:r>
              <a:rPr lang="en-US" b="0" i="0" dirty="0" err="1">
                <a:solidFill>
                  <a:srgbClr val="333366"/>
                </a:solidFill>
                <a:effectLst/>
                <a:latin typeface="Helvetica Neue"/>
              </a:rPr>
              <a:t>diselesaikan</a:t>
            </a:r>
            <a:r>
              <a:rPr lang="en-US" b="0" i="0" dirty="0">
                <a:solidFill>
                  <a:srgbClr val="333366"/>
                </a:solidFill>
                <a:effectLst/>
                <a:latin typeface="Helvetica Neue"/>
              </a:rPr>
              <a:t> </a:t>
            </a:r>
            <a:r>
              <a:rPr lang="en-US" b="0" i="0" dirty="0" err="1">
                <a:solidFill>
                  <a:srgbClr val="333366"/>
                </a:solidFill>
                <a:effectLst/>
                <a:latin typeface="Helvetica Neue"/>
              </a:rPr>
              <a:t>dengan</a:t>
            </a:r>
            <a:r>
              <a:rPr lang="en-US" b="0" i="0" dirty="0">
                <a:solidFill>
                  <a:srgbClr val="333366"/>
                </a:solidFill>
                <a:effectLst/>
                <a:latin typeface="Helvetica Neue"/>
              </a:rPr>
              <a:t> </a:t>
            </a:r>
            <a:r>
              <a:rPr lang="en-US" b="0" i="0" dirty="0" err="1">
                <a:solidFill>
                  <a:srgbClr val="333366"/>
                </a:solidFill>
                <a:effectLst/>
                <a:latin typeface="Helvetica Neue"/>
              </a:rPr>
              <a:t>pemrograman</a:t>
            </a:r>
            <a:r>
              <a:rPr lang="en-US" b="0" i="0" dirty="0">
                <a:solidFill>
                  <a:srgbClr val="333366"/>
                </a:solidFill>
                <a:effectLst/>
                <a:latin typeface="Helvetica Neue"/>
              </a:rPr>
              <a:t> </a:t>
            </a:r>
            <a:r>
              <a:rPr lang="en-US" b="0" i="0" dirty="0" err="1">
                <a:solidFill>
                  <a:srgbClr val="333366"/>
                </a:solidFill>
                <a:effectLst/>
                <a:latin typeface="Helvetica Neue"/>
              </a:rPr>
              <a:t>komputer</a:t>
            </a:r>
            <a:r>
              <a:rPr lang="en-US" b="0" i="0" dirty="0">
                <a:solidFill>
                  <a:srgbClr val="333366"/>
                </a:solidFill>
                <a:effectLst/>
                <a:latin typeface="Helvetica Neue"/>
              </a:rPr>
              <a:t> </a:t>
            </a:r>
            <a:r>
              <a:rPr lang="en-US" b="0" i="0" dirty="0" err="1">
                <a:solidFill>
                  <a:srgbClr val="333366"/>
                </a:solidFill>
                <a:effectLst/>
                <a:latin typeface="Helvetica Neue"/>
              </a:rPr>
              <a:t>adalah</a:t>
            </a:r>
            <a:r>
              <a:rPr lang="en-US" b="0" i="0" dirty="0">
                <a:solidFill>
                  <a:srgbClr val="333366"/>
                </a:solidFill>
                <a:effectLst/>
                <a:latin typeface="Helvetica Neue"/>
              </a:rPr>
              <a:t> </a:t>
            </a:r>
            <a:r>
              <a:rPr lang="en-US" b="0" i="0" dirty="0" err="1">
                <a:solidFill>
                  <a:srgbClr val="333366"/>
                </a:solidFill>
                <a:effectLst/>
                <a:latin typeface="Helvetica Neue"/>
              </a:rPr>
              <a:t>masalah-masalah</a:t>
            </a:r>
            <a:r>
              <a:rPr lang="en-US" b="0" i="0" dirty="0">
                <a:solidFill>
                  <a:srgbClr val="333366"/>
                </a:solidFill>
                <a:effectLst/>
                <a:latin typeface="Helvetica Neue"/>
              </a:rPr>
              <a:t> yang </a:t>
            </a:r>
            <a:r>
              <a:rPr lang="en-US" b="0" i="0" dirty="0" err="1">
                <a:solidFill>
                  <a:srgbClr val="333366"/>
                </a:solidFill>
                <a:effectLst/>
                <a:latin typeface="Helvetica Neue"/>
              </a:rPr>
              <a:t>berhubungan</a:t>
            </a:r>
            <a:r>
              <a:rPr lang="en-US" b="0" i="0" dirty="0">
                <a:solidFill>
                  <a:srgbClr val="333366"/>
                </a:solidFill>
                <a:effectLst/>
                <a:latin typeface="Helvetica Neue"/>
              </a:rPr>
              <a:t> </a:t>
            </a:r>
            <a:r>
              <a:rPr lang="en-US" b="0" i="0" dirty="0" err="1">
                <a:solidFill>
                  <a:srgbClr val="333366"/>
                </a:solidFill>
                <a:effectLst/>
                <a:latin typeface="Helvetica Neue"/>
              </a:rPr>
              <a:t>dengan</a:t>
            </a:r>
            <a:r>
              <a:rPr lang="en-US" b="0" i="0" dirty="0">
                <a:solidFill>
                  <a:srgbClr val="333366"/>
                </a:solidFill>
                <a:effectLst/>
                <a:latin typeface="Helvetica Neue"/>
              </a:rPr>
              <a:t> </a:t>
            </a:r>
            <a:r>
              <a:rPr lang="en-US" b="0" i="0" dirty="0" err="1">
                <a:solidFill>
                  <a:srgbClr val="333366"/>
                </a:solidFill>
                <a:effectLst/>
                <a:latin typeface="Helvetica Neue"/>
              </a:rPr>
              <a:t>perhitungan</a:t>
            </a:r>
            <a:r>
              <a:rPr lang="en-US" b="0" i="0" dirty="0">
                <a:solidFill>
                  <a:srgbClr val="333366"/>
                </a:solidFill>
                <a:effectLst/>
                <a:latin typeface="Helvetica Neue"/>
              </a:rPr>
              <a:t> </a:t>
            </a:r>
            <a:r>
              <a:rPr lang="en-US" b="0" i="0" dirty="0" err="1">
                <a:solidFill>
                  <a:srgbClr val="333366"/>
                </a:solidFill>
                <a:effectLst/>
                <a:latin typeface="Helvetica Neue"/>
              </a:rPr>
              <a:t>matematik</a:t>
            </a:r>
            <a:endParaRPr lang="en-US" b="0" i="0" dirty="0">
              <a:solidFill>
                <a:srgbClr val="333366"/>
              </a:solidFill>
              <a:effectLst/>
              <a:latin typeface="Helvetica Neue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b="0" i="0" dirty="0">
              <a:solidFill>
                <a:srgbClr val="333366"/>
              </a:solidFill>
              <a:effectLst/>
              <a:latin typeface="Helvetica Neue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C3CC693-505C-A72E-FE1B-C97BE65BC9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2602" y="1644562"/>
            <a:ext cx="2893227" cy="1551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60066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7B65C53-2D8E-406D-9BDC-F27B878942A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4808" t="11468" r="25808" b="30657"/>
          <a:stretch/>
        </p:blipFill>
        <p:spPr>
          <a:xfrm>
            <a:off x="398022" y="415531"/>
            <a:ext cx="8797349" cy="5796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88555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E69FC7A-0A9B-477B-ACAE-DD24C7CFB85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1691" t="13315" r="22578" b="31068"/>
          <a:stretch/>
        </p:blipFill>
        <p:spPr>
          <a:xfrm>
            <a:off x="1753157" y="1209823"/>
            <a:ext cx="9151528" cy="5134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61245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DBAA561-B03B-4734-A773-8BBA1B8122D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4000" t="11879" r="23154" b="50000"/>
          <a:stretch/>
        </p:blipFill>
        <p:spPr>
          <a:xfrm>
            <a:off x="786297" y="1434089"/>
            <a:ext cx="10650737" cy="4319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44561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68363-9E88-0A14-0600-266F90A7EC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Contoh</a:t>
            </a:r>
            <a:r>
              <a:rPr lang="en-US" dirty="0"/>
              <a:t> Flowchart</a:t>
            </a:r>
            <a:endParaRPr lang="en-ID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A2FF86C-98F5-0C4D-D748-725D10B1FCE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2685" t="3704" r="21267"/>
          <a:stretch/>
        </p:blipFill>
        <p:spPr>
          <a:xfrm>
            <a:off x="3945276" y="1690688"/>
            <a:ext cx="3471238" cy="4806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0440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4C54329-9405-4079-A4A4-DAFEDE26D49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3538" t="14752" r="26615" b="33120"/>
          <a:stretch/>
        </p:blipFill>
        <p:spPr>
          <a:xfrm>
            <a:off x="2841673" y="1139483"/>
            <a:ext cx="7345331" cy="4318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24579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931C8-D773-EB7E-550E-8DDC3DDE0B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CONTOH</a:t>
            </a:r>
            <a:endParaRPr lang="en-ID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CA83D55-B756-7BB1-741C-2A7422B41A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706" y="1999040"/>
            <a:ext cx="8773106" cy="3312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71150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0F768AF-3AF0-1085-C30E-759BE1C114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564" y="945223"/>
            <a:ext cx="8355646" cy="4125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49757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1F7B369-8C00-93D3-0EAC-A3F80DB6C8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6005" y="1893358"/>
            <a:ext cx="9399990" cy="3071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41238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374B8B8-4A41-F85A-33F5-8CC8A622EC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819" y="1164010"/>
            <a:ext cx="10133369" cy="4529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05918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AB601C3-C17D-CC1F-B91E-EFCC2D3AF5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690" y="870183"/>
            <a:ext cx="8635583" cy="5372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44856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11319-0F87-C68A-FE46-083BBD5DE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D" dirty="0"/>
              <a:t>Software </a:t>
            </a:r>
            <a:r>
              <a:rPr lang="en-ID" dirty="0" err="1"/>
              <a:t>Simulasi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7E2E6F-47BB-4F88-51FC-77FD6869F0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D" dirty="0" err="1">
                <a:solidFill>
                  <a:srgbClr val="2A2A2A"/>
                </a:solidFill>
                <a:latin typeface="Roboto" panose="02000000000000000000" pitchFamily="2" charset="0"/>
              </a:rPr>
              <a:t>S</a:t>
            </a:r>
            <a:r>
              <a:rPr lang="en-ID" b="0" i="0" dirty="0" err="1">
                <a:solidFill>
                  <a:srgbClr val="2A2A2A"/>
                </a:solidFill>
                <a:effectLst/>
                <a:latin typeface="Roboto" panose="02000000000000000000" pitchFamily="2" charset="0"/>
              </a:rPr>
              <a:t>imulasi</a:t>
            </a:r>
            <a:r>
              <a:rPr lang="en-ID" b="0" i="0" dirty="0">
                <a:solidFill>
                  <a:srgbClr val="2A2A2A"/>
                </a:solidFill>
                <a:effectLst/>
                <a:latin typeface="Roboto" panose="02000000000000000000" pitchFamily="2" charset="0"/>
              </a:rPr>
              <a:t> </a:t>
            </a:r>
            <a:r>
              <a:rPr lang="en-ID" b="0" i="0" dirty="0" err="1">
                <a:solidFill>
                  <a:srgbClr val="2A2A2A"/>
                </a:solidFill>
                <a:effectLst/>
                <a:latin typeface="Roboto" panose="02000000000000000000" pitchFamily="2" charset="0"/>
              </a:rPr>
              <a:t>adalah</a:t>
            </a:r>
            <a:r>
              <a:rPr lang="en-ID" b="0" i="0" dirty="0">
                <a:solidFill>
                  <a:srgbClr val="2A2A2A"/>
                </a:solidFill>
                <a:effectLst/>
                <a:latin typeface="Roboto" panose="02000000000000000000" pitchFamily="2" charset="0"/>
              </a:rPr>
              <a:t> </a:t>
            </a:r>
            <a:r>
              <a:rPr lang="en-ID" b="0" i="0" dirty="0" err="1">
                <a:solidFill>
                  <a:srgbClr val="2A2A2A"/>
                </a:solidFill>
                <a:effectLst/>
                <a:latin typeface="Roboto" panose="02000000000000000000" pitchFamily="2" charset="0"/>
              </a:rPr>
              <a:t>suatu</a:t>
            </a:r>
            <a:r>
              <a:rPr lang="en-ID" b="0" i="0" dirty="0">
                <a:solidFill>
                  <a:srgbClr val="2A2A2A"/>
                </a:solidFill>
                <a:effectLst/>
                <a:latin typeface="Roboto" panose="02000000000000000000" pitchFamily="2" charset="0"/>
              </a:rPr>
              <a:t> proses </a:t>
            </a:r>
            <a:r>
              <a:rPr lang="en-ID" b="0" i="0" dirty="0" err="1">
                <a:solidFill>
                  <a:srgbClr val="2A2A2A"/>
                </a:solidFill>
                <a:effectLst/>
                <a:latin typeface="Roboto" panose="02000000000000000000" pitchFamily="2" charset="0"/>
              </a:rPr>
              <a:t>merekayasa</a:t>
            </a:r>
            <a:r>
              <a:rPr lang="en-ID" b="0" i="0" dirty="0">
                <a:solidFill>
                  <a:srgbClr val="2A2A2A"/>
                </a:solidFill>
                <a:effectLst/>
                <a:latin typeface="Roboto" panose="02000000000000000000" pitchFamily="2" charset="0"/>
              </a:rPr>
              <a:t> </a:t>
            </a:r>
            <a:r>
              <a:rPr lang="en-ID" b="0" i="0" dirty="0" err="1">
                <a:solidFill>
                  <a:srgbClr val="2A2A2A"/>
                </a:solidFill>
                <a:effectLst/>
                <a:latin typeface="Roboto" panose="02000000000000000000" pitchFamily="2" charset="0"/>
              </a:rPr>
              <a:t>bentuk</a:t>
            </a:r>
            <a:r>
              <a:rPr lang="en-ID" b="0" i="0" dirty="0">
                <a:solidFill>
                  <a:srgbClr val="2A2A2A"/>
                </a:solidFill>
                <a:effectLst/>
                <a:latin typeface="Roboto" panose="02000000000000000000" pitchFamily="2" charset="0"/>
              </a:rPr>
              <a:t> </a:t>
            </a:r>
            <a:r>
              <a:rPr lang="en-ID" b="0" i="0" dirty="0" err="1">
                <a:solidFill>
                  <a:srgbClr val="2A2A2A"/>
                </a:solidFill>
                <a:effectLst/>
                <a:latin typeface="Roboto" panose="02000000000000000000" pitchFamily="2" charset="0"/>
              </a:rPr>
              <a:t>asli</a:t>
            </a:r>
            <a:r>
              <a:rPr lang="en-ID" b="0" i="0" dirty="0">
                <a:solidFill>
                  <a:srgbClr val="2A2A2A"/>
                </a:solidFill>
                <a:effectLst/>
                <a:latin typeface="Roboto" panose="02000000000000000000" pitchFamily="2" charset="0"/>
              </a:rPr>
              <a:t> </a:t>
            </a:r>
            <a:r>
              <a:rPr lang="en-ID" b="0" i="0" dirty="0" err="1">
                <a:solidFill>
                  <a:srgbClr val="2A2A2A"/>
                </a:solidFill>
                <a:effectLst/>
                <a:latin typeface="Roboto" panose="02000000000000000000" pitchFamily="2" charset="0"/>
              </a:rPr>
              <a:t>dengan</a:t>
            </a:r>
            <a:r>
              <a:rPr lang="en-ID" b="0" i="0" dirty="0">
                <a:solidFill>
                  <a:srgbClr val="2A2A2A"/>
                </a:solidFill>
                <a:effectLst/>
                <a:latin typeface="Roboto" panose="02000000000000000000" pitchFamily="2" charset="0"/>
              </a:rPr>
              <a:t> </a:t>
            </a:r>
            <a:r>
              <a:rPr lang="en-ID" b="0" i="0" dirty="0" err="1">
                <a:solidFill>
                  <a:srgbClr val="2A2A2A"/>
                </a:solidFill>
                <a:effectLst/>
                <a:latin typeface="Roboto" panose="02000000000000000000" pitchFamily="2" charset="0"/>
              </a:rPr>
              <a:t>visualisasi</a:t>
            </a:r>
            <a:r>
              <a:rPr lang="en-ID" b="0" i="0" dirty="0">
                <a:solidFill>
                  <a:srgbClr val="2A2A2A"/>
                </a:solidFill>
                <a:effectLst/>
                <a:latin typeface="Roboto" panose="02000000000000000000" pitchFamily="2" charset="0"/>
              </a:rPr>
              <a:t> yang </a:t>
            </a:r>
            <a:r>
              <a:rPr lang="en-ID" b="0" i="0" dirty="0" err="1">
                <a:solidFill>
                  <a:srgbClr val="2A2A2A"/>
                </a:solidFill>
                <a:effectLst/>
                <a:latin typeface="Roboto" panose="02000000000000000000" pitchFamily="2" charset="0"/>
              </a:rPr>
              <a:t>mudah</a:t>
            </a:r>
            <a:endParaRPr lang="en-ID" b="0" i="0" dirty="0">
              <a:solidFill>
                <a:srgbClr val="2A2A2A"/>
              </a:solidFill>
              <a:effectLst/>
              <a:latin typeface="Roboto" panose="02000000000000000000" pitchFamily="2" charset="0"/>
            </a:endParaRPr>
          </a:p>
          <a:p>
            <a:r>
              <a:rPr lang="en-ID" dirty="0"/>
              <a:t>Software </a:t>
            </a:r>
            <a:r>
              <a:rPr lang="en-ID" dirty="0" err="1"/>
              <a:t>simulasi</a:t>
            </a:r>
            <a:r>
              <a:rPr lang="en-ID" dirty="0"/>
              <a:t> </a:t>
            </a:r>
            <a:r>
              <a:rPr lang="en-ID" dirty="0" err="1"/>
              <a:t>adalah</a:t>
            </a:r>
            <a:r>
              <a:rPr lang="en-ID" dirty="0"/>
              <a:t> </a:t>
            </a:r>
            <a:r>
              <a:rPr lang="en-ID" dirty="0" err="1"/>
              <a:t>perangkat</a:t>
            </a:r>
            <a:r>
              <a:rPr lang="en-ID" dirty="0"/>
              <a:t> </a:t>
            </a:r>
            <a:r>
              <a:rPr lang="en-ID" dirty="0" err="1"/>
              <a:t>lunak</a:t>
            </a:r>
            <a:r>
              <a:rPr lang="en-ID" dirty="0"/>
              <a:t> yang </a:t>
            </a:r>
            <a:r>
              <a:rPr lang="en-ID" dirty="0" err="1"/>
              <a:t>dibuat</a:t>
            </a:r>
            <a:r>
              <a:rPr lang="en-ID" dirty="0"/>
              <a:t> </a:t>
            </a:r>
            <a:r>
              <a:rPr lang="en-ID" dirty="0" err="1"/>
              <a:t>berdasarkan</a:t>
            </a:r>
            <a:r>
              <a:rPr lang="en-ID" dirty="0"/>
              <a:t> pada proses </a:t>
            </a:r>
            <a:r>
              <a:rPr lang="en-ID" dirty="0" err="1"/>
              <a:t>nyata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menggunakan</a:t>
            </a:r>
            <a:r>
              <a:rPr lang="en-ID" dirty="0"/>
              <a:t> model </a:t>
            </a:r>
            <a:r>
              <a:rPr lang="en-ID" dirty="0" err="1"/>
              <a:t>sistem</a:t>
            </a:r>
            <a:r>
              <a:rPr lang="en-ID" dirty="0"/>
              <a:t> yang </a:t>
            </a:r>
            <a:r>
              <a:rPr lang="en-ID" dirty="0" err="1"/>
              <a:t>dinyatakan</a:t>
            </a:r>
            <a:r>
              <a:rPr lang="en-ID" dirty="0"/>
              <a:t> oleh </a:t>
            </a:r>
            <a:r>
              <a:rPr lang="en-ID" dirty="0" err="1"/>
              <a:t>sekumpulan</a:t>
            </a:r>
            <a:r>
              <a:rPr lang="en-ID" dirty="0"/>
              <a:t> </a:t>
            </a:r>
            <a:r>
              <a:rPr lang="en-ID" dirty="0" err="1"/>
              <a:t>rumus-rumus</a:t>
            </a:r>
            <a:r>
              <a:rPr lang="en-ID" dirty="0"/>
              <a:t> </a:t>
            </a:r>
            <a:r>
              <a:rPr lang="en-ID" dirty="0" err="1"/>
              <a:t>matematika</a:t>
            </a:r>
            <a:endParaRPr lang="en-ID" dirty="0"/>
          </a:p>
          <a:p>
            <a:r>
              <a:rPr lang="sv-SE" dirty="0"/>
              <a:t>Tujuan: memungkinkan pengguna untuk mengamati operasi dan proses kerja sistem tanpa harus melakukan operasi real/nyata yang sebenarnya. </a:t>
            </a:r>
          </a:p>
          <a:p>
            <a:r>
              <a:rPr lang="en-ID" dirty="0" err="1"/>
              <a:t>Macam</a:t>
            </a:r>
            <a:r>
              <a:rPr lang="en-ID" dirty="0"/>
              <a:t> software </a:t>
            </a:r>
            <a:r>
              <a:rPr lang="en-ID" dirty="0" err="1"/>
              <a:t>simulasi</a:t>
            </a:r>
            <a:r>
              <a:rPr lang="en-ID" dirty="0"/>
              <a:t>: </a:t>
            </a:r>
            <a:r>
              <a:rPr lang="en-ID" dirty="0" err="1"/>
              <a:t>Matlab</a:t>
            </a:r>
            <a:r>
              <a:rPr lang="en-ID" dirty="0"/>
              <a:t>, </a:t>
            </a:r>
            <a:r>
              <a:rPr lang="en-ID" dirty="0" err="1"/>
              <a:t>Scilab</a:t>
            </a:r>
            <a:r>
              <a:rPr lang="en-ID" dirty="0"/>
              <a:t>, Mathematica, GNU octave, Simulink, </a:t>
            </a:r>
            <a:r>
              <a:rPr lang="en-ID" dirty="0" err="1"/>
              <a:t>VisSim</a:t>
            </a:r>
            <a:r>
              <a:rPr lang="en-ID" dirty="0"/>
              <a:t>, </a:t>
            </a:r>
            <a:r>
              <a:rPr lang="en-ID" dirty="0" err="1"/>
              <a:t>FlexSim</a:t>
            </a:r>
            <a:r>
              <a:rPr lang="en-ID" dirty="0"/>
              <a:t>, </a:t>
            </a:r>
            <a:r>
              <a:rPr lang="en-ID" dirty="0" err="1"/>
              <a:t>EcosimPro</a:t>
            </a:r>
            <a:r>
              <a:rPr lang="en-ID" dirty="0"/>
              <a:t>, dan </a:t>
            </a:r>
            <a:r>
              <a:rPr lang="en-ID" dirty="0" err="1"/>
              <a:t>sebagainya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5393653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B5C199-6D90-F4E2-0E41-6043F7B1F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5874FE3-DFD9-3ABB-8365-49278E9DD4B5}"/>
              </a:ext>
            </a:extLst>
          </p:cNvPr>
          <p:cNvSpPr/>
          <p:nvPr/>
        </p:nvSpPr>
        <p:spPr>
          <a:xfrm>
            <a:off x="431515" y="6376"/>
            <a:ext cx="11147460" cy="74363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5400" dirty="0" err="1"/>
              <a:t>Macam</a:t>
            </a:r>
            <a:r>
              <a:rPr lang="en-ID" sz="5400" dirty="0"/>
              <a:t> Software </a:t>
            </a:r>
            <a:r>
              <a:rPr lang="en-ID" sz="5400" dirty="0" err="1"/>
              <a:t>Simulasi</a:t>
            </a:r>
            <a:endParaRPr lang="en-ID" sz="5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338D980-2E17-4EBA-B463-F8C58BE01C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515" y="1108762"/>
            <a:ext cx="3739549" cy="206502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598ED33-B9D2-6778-8046-1897FA0E8E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9365" y="813828"/>
            <a:ext cx="4265605" cy="3412484"/>
          </a:xfrm>
          <a:prstGeom prst="rect">
            <a:avLst/>
          </a:prstGeom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EC747510-6409-A17A-CBE6-64A41C3CF9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902" y="3349452"/>
            <a:ext cx="3671162" cy="20650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E0FD742-41E1-7DCD-3676-F74EB6B819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9365" y="4290127"/>
            <a:ext cx="3765438" cy="235339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6D4A29A-85A6-0900-CD82-AA4A72B73897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4822" r="5087"/>
          <a:stretch/>
        </p:blipFill>
        <p:spPr>
          <a:xfrm>
            <a:off x="8173104" y="4381966"/>
            <a:ext cx="3935003" cy="2460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31215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042CC7B-6492-7F9F-7018-C08A8B8E76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981" y="557302"/>
            <a:ext cx="7774715" cy="314482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9D6A4E2-B4BF-C5A6-8639-CF81D8E6DA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421" y="3988069"/>
            <a:ext cx="6426530" cy="2025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86135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F9B9EB9-A507-3BAB-2DF9-69E1F2F0E5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771" y="368778"/>
            <a:ext cx="6774251" cy="246272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0BE8EAE-2016-824C-2FC8-2419DC63C7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707" y="3196083"/>
            <a:ext cx="6553537" cy="2787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63409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69D3F5C-0A5E-7B57-C3F2-8D353D81B8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241" y="770592"/>
            <a:ext cx="7654247" cy="5618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05537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8E965C8-5E4B-4F20-81E2-8F92B82A1C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521" y="502188"/>
            <a:ext cx="6439231" cy="264808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0DF70A6-018D-AB6F-579F-8FF53C5371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521" y="3539208"/>
            <a:ext cx="6312224" cy="2368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62139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8B32DF1-1D94-DBC0-83A3-FDC106102B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600" y="569100"/>
            <a:ext cx="6521785" cy="313071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857C42C-9AB3-8EBD-B875-F67F62E388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141" y="3917312"/>
            <a:ext cx="6693244" cy="2578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24691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3D366BE-7C03-723F-F7C5-2D34AACD9DD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7464"/>
          <a:stretch>
            <a:fillRect/>
          </a:stretch>
        </p:blipFill>
        <p:spPr>
          <a:xfrm>
            <a:off x="427959" y="1397284"/>
            <a:ext cx="6445581" cy="2538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9106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6059CE-72EC-4A12-B28B-1EBA400F2A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CONTOH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9077D1-AA64-44DC-ACCF-A1860716C4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>
                <a:solidFill>
                  <a:srgbClr val="575757"/>
                </a:solidFill>
                <a:latin typeface="Roboto" panose="02000000000000000000" pitchFamily="2" charset="0"/>
              </a:rPr>
              <a:t>M</a:t>
            </a:r>
            <a:r>
              <a:rPr lang="en-US" b="0" i="0" dirty="0" err="1">
                <a:solidFill>
                  <a:srgbClr val="575757"/>
                </a:solidFill>
                <a:effectLst/>
                <a:latin typeface="Roboto" panose="02000000000000000000" pitchFamily="2" charset="0"/>
              </a:rPr>
              <a:t>encari</a:t>
            </a:r>
            <a:r>
              <a:rPr lang="en-US" b="0" i="0" dirty="0">
                <a:solidFill>
                  <a:srgbClr val="575757"/>
                </a:solidFill>
                <a:effectLst/>
                <a:latin typeface="Roboto" panose="02000000000000000000" pitchFamily="2" charset="0"/>
              </a:rPr>
              <a:t> dan </a:t>
            </a:r>
            <a:r>
              <a:rPr lang="en-US" b="0" i="0" dirty="0" err="1">
                <a:solidFill>
                  <a:srgbClr val="575757"/>
                </a:solidFill>
                <a:effectLst/>
                <a:latin typeface="Roboto" panose="02000000000000000000" pitchFamily="2" charset="0"/>
              </a:rPr>
              <a:t>menentukan</a:t>
            </a:r>
            <a:r>
              <a:rPr lang="en-US" b="0" i="0" dirty="0">
                <a:solidFill>
                  <a:srgbClr val="575757"/>
                </a:solidFill>
                <a:effectLst/>
                <a:latin typeface="Roboto" panose="02000000000000000000" pitchFamily="2" charset="0"/>
              </a:rPr>
              <a:t> </a:t>
            </a:r>
            <a:r>
              <a:rPr lang="en-US" b="0" i="0" dirty="0" err="1">
                <a:solidFill>
                  <a:srgbClr val="575757"/>
                </a:solidFill>
                <a:effectLst/>
                <a:latin typeface="Roboto" panose="02000000000000000000" pitchFamily="2" charset="0"/>
              </a:rPr>
              <a:t>luas</a:t>
            </a:r>
            <a:r>
              <a:rPr lang="en-US" b="0" i="0" dirty="0">
                <a:solidFill>
                  <a:srgbClr val="575757"/>
                </a:solidFill>
                <a:effectLst/>
                <a:latin typeface="Roboto" panose="02000000000000000000" pitchFamily="2" charset="0"/>
              </a:rPr>
              <a:t> </a:t>
            </a:r>
            <a:r>
              <a:rPr lang="en-US" b="0" i="0" dirty="0" err="1">
                <a:solidFill>
                  <a:srgbClr val="575757"/>
                </a:solidFill>
                <a:effectLst/>
                <a:latin typeface="Roboto" panose="02000000000000000000" pitchFamily="2" charset="0"/>
              </a:rPr>
              <a:t>bangun</a:t>
            </a:r>
            <a:r>
              <a:rPr lang="en-US" b="0" i="0" dirty="0">
                <a:solidFill>
                  <a:srgbClr val="575757"/>
                </a:solidFill>
                <a:effectLst/>
                <a:latin typeface="Roboto" panose="02000000000000000000" pitchFamily="2" charset="0"/>
              </a:rPr>
              <a:t> </a:t>
            </a:r>
            <a:r>
              <a:rPr lang="en-US" b="0" i="0" dirty="0" err="1">
                <a:solidFill>
                  <a:srgbClr val="575757"/>
                </a:solidFill>
                <a:effectLst/>
                <a:latin typeface="Roboto" panose="02000000000000000000" pitchFamily="2" charset="0"/>
              </a:rPr>
              <a:t>datar</a:t>
            </a:r>
            <a:r>
              <a:rPr lang="en-US" b="0" i="0" dirty="0">
                <a:solidFill>
                  <a:srgbClr val="575757"/>
                </a:solidFill>
                <a:effectLst/>
                <a:latin typeface="Roboto" panose="02000000000000000000" pitchFamily="2" charset="0"/>
              </a:rPr>
              <a:t> (</a:t>
            </a:r>
            <a:r>
              <a:rPr lang="en-US" b="0" i="0" dirty="0" err="1">
                <a:solidFill>
                  <a:srgbClr val="575757"/>
                </a:solidFill>
                <a:effectLst/>
                <a:latin typeface="Roboto" panose="02000000000000000000" pitchFamily="2" charset="0"/>
              </a:rPr>
              <a:t>persegi</a:t>
            </a:r>
            <a:r>
              <a:rPr lang="en-US" b="0" i="0" dirty="0">
                <a:solidFill>
                  <a:srgbClr val="575757"/>
                </a:solidFill>
                <a:effectLst/>
                <a:latin typeface="Roboto" panose="02000000000000000000" pitchFamily="2" charset="0"/>
              </a:rPr>
              <a:t>, </a:t>
            </a:r>
            <a:r>
              <a:rPr lang="en-US" b="0" i="0" dirty="0" err="1">
                <a:solidFill>
                  <a:srgbClr val="575757"/>
                </a:solidFill>
                <a:effectLst/>
                <a:latin typeface="Roboto" panose="02000000000000000000" pitchFamily="2" charset="0"/>
              </a:rPr>
              <a:t>segitiga</a:t>
            </a:r>
            <a:r>
              <a:rPr lang="en-US" b="0" i="0" dirty="0">
                <a:solidFill>
                  <a:srgbClr val="575757"/>
                </a:solidFill>
                <a:effectLst/>
                <a:latin typeface="Roboto" panose="02000000000000000000" pitchFamily="2" charset="0"/>
              </a:rPr>
              <a:t>, </a:t>
            </a:r>
            <a:r>
              <a:rPr lang="en-US" b="0" i="0" dirty="0" err="1">
                <a:solidFill>
                  <a:srgbClr val="575757"/>
                </a:solidFill>
                <a:effectLst/>
                <a:latin typeface="Roboto" panose="02000000000000000000" pitchFamily="2" charset="0"/>
              </a:rPr>
              <a:t>lingkaran</a:t>
            </a:r>
            <a:r>
              <a:rPr lang="en-US" b="0" i="0" dirty="0">
                <a:solidFill>
                  <a:srgbClr val="575757"/>
                </a:solidFill>
                <a:effectLst/>
                <a:latin typeface="Roboto" panose="02000000000000000000" pitchFamily="2" charset="0"/>
              </a:rPr>
              <a:t>) </a:t>
            </a:r>
            <a:r>
              <a:rPr lang="en-US" b="0" i="0" dirty="0" err="1">
                <a:solidFill>
                  <a:srgbClr val="575757"/>
                </a:solidFill>
                <a:effectLst/>
                <a:latin typeface="Roboto" panose="02000000000000000000" pitchFamily="2" charset="0"/>
              </a:rPr>
              <a:t>dengan</a:t>
            </a:r>
            <a:r>
              <a:rPr lang="en-US" b="0" i="0" dirty="0">
                <a:solidFill>
                  <a:srgbClr val="575757"/>
                </a:solidFill>
                <a:effectLst/>
                <a:latin typeface="Roboto" panose="02000000000000000000" pitchFamily="2" charset="0"/>
              </a:rPr>
              <a:t> </a:t>
            </a:r>
            <a:r>
              <a:rPr lang="en-US" b="0" i="0" dirty="0" err="1">
                <a:solidFill>
                  <a:srgbClr val="575757"/>
                </a:solidFill>
                <a:effectLst/>
                <a:latin typeface="Roboto" panose="02000000000000000000" pitchFamily="2" charset="0"/>
              </a:rPr>
              <a:t>dibantu</a:t>
            </a:r>
            <a:r>
              <a:rPr lang="en-US" b="0" i="0" dirty="0">
                <a:solidFill>
                  <a:srgbClr val="575757"/>
                </a:solidFill>
                <a:effectLst/>
                <a:latin typeface="Roboto" panose="02000000000000000000" pitchFamily="2" charset="0"/>
              </a:rPr>
              <a:t> oleh program </a:t>
            </a:r>
            <a:r>
              <a:rPr lang="en-US" b="0" i="0" dirty="0" err="1">
                <a:solidFill>
                  <a:srgbClr val="575757"/>
                </a:solidFill>
                <a:effectLst/>
                <a:latin typeface="Roboto" panose="02000000000000000000" pitchFamily="2" charset="0"/>
              </a:rPr>
              <a:t>matlab</a:t>
            </a:r>
            <a:r>
              <a:rPr lang="en-US" b="0" i="0" dirty="0">
                <a:solidFill>
                  <a:srgbClr val="575757"/>
                </a:solidFill>
                <a:effectLst/>
                <a:latin typeface="Roboto" panose="02000000000000000000" pitchFamily="2" charset="0"/>
              </a:rPr>
              <a:t>. </a:t>
            </a:r>
          </a:p>
          <a:p>
            <a:endParaRPr lang="en-US" dirty="0">
              <a:solidFill>
                <a:srgbClr val="575757"/>
              </a:solidFill>
              <a:latin typeface="Roboto" panose="02000000000000000000" pitchFamily="2" charset="0"/>
            </a:endParaRPr>
          </a:p>
          <a:p>
            <a:r>
              <a:rPr lang="en-US" dirty="0" err="1"/>
              <a:t>Algoritma</a:t>
            </a:r>
            <a:r>
              <a:rPr lang="en-US" dirty="0"/>
              <a:t> :  </a:t>
            </a:r>
          </a:p>
          <a:p>
            <a:r>
              <a:rPr lang="en-US" dirty="0"/>
              <a:t>1. input : </a:t>
            </a:r>
            <a:r>
              <a:rPr lang="en-US" dirty="0" err="1"/>
              <a:t>lingkaran</a:t>
            </a:r>
            <a:r>
              <a:rPr lang="en-US" dirty="0"/>
              <a:t> </a:t>
            </a:r>
          </a:p>
          <a:p>
            <a:r>
              <a:rPr lang="en-US" dirty="0" err="1"/>
              <a:t>Jari</a:t>
            </a:r>
            <a:r>
              <a:rPr lang="en-US" dirty="0"/>
              <a:t> </a:t>
            </a:r>
            <a:r>
              <a:rPr lang="en-US" dirty="0" err="1"/>
              <a:t>jari</a:t>
            </a:r>
            <a:r>
              <a:rPr lang="en-US" dirty="0"/>
              <a:t> =…</a:t>
            </a:r>
          </a:p>
          <a:p>
            <a:r>
              <a:rPr lang="en-US" dirty="0"/>
              <a:t>2. output : </a:t>
            </a:r>
            <a:r>
              <a:rPr lang="en-US" dirty="0" err="1"/>
              <a:t>luas</a:t>
            </a:r>
            <a:r>
              <a:rPr lang="en-US" dirty="0"/>
              <a:t> </a:t>
            </a:r>
            <a:r>
              <a:rPr lang="en-US" dirty="0" err="1"/>
              <a:t>lingkaran</a:t>
            </a:r>
            <a:endParaRPr lang="en-US" dirty="0"/>
          </a:p>
          <a:p>
            <a:r>
              <a:rPr lang="en-US" dirty="0"/>
              <a:t>3. proses : </a:t>
            </a:r>
            <a:r>
              <a:rPr lang="en-US" dirty="0" err="1"/>
              <a:t>rumus</a:t>
            </a:r>
            <a:r>
              <a:rPr lang="en-US" dirty="0"/>
              <a:t> </a:t>
            </a:r>
            <a:r>
              <a:rPr lang="en-US" dirty="0" err="1"/>
              <a:t>luas</a:t>
            </a:r>
            <a:r>
              <a:rPr lang="en-US" dirty="0"/>
              <a:t> </a:t>
            </a:r>
            <a:r>
              <a:rPr lang="en-US" dirty="0" err="1"/>
              <a:t>lingkaran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83477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0B2C6-C3D4-4D09-B828-8823C1BC6A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Implementasi</a:t>
            </a:r>
            <a:r>
              <a:rPr lang="en-US" dirty="0"/>
              <a:t> </a:t>
            </a:r>
            <a:r>
              <a:rPr lang="en-US" dirty="0" err="1"/>
              <a:t>Matlab</a:t>
            </a:r>
            <a:r>
              <a:rPr lang="en-US" dirty="0"/>
              <a:t> </a:t>
            </a:r>
            <a:r>
              <a:rPr lang="en-US" dirty="0" err="1"/>
              <a:t>menghitung</a:t>
            </a:r>
            <a:r>
              <a:rPr lang="en-US" dirty="0"/>
              <a:t> </a:t>
            </a:r>
            <a:r>
              <a:rPr lang="en-US" dirty="0" err="1"/>
              <a:t>luas</a:t>
            </a:r>
            <a:r>
              <a:rPr lang="en-US" dirty="0"/>
              <a:t> </a:t>
            </a:r>
            <a:r>
              <a:rPr lang="en-US" dirty="0" err="1"/>
              <a:t>bangun</a:t>
            </a:r>
            <a:r>
              <a:rPr lang="en-US" dirty="0"/>
              <a:t>: coding</a:t>
            </a:r>
          </a:p>
        </p:txBody>
      </p:sp>
    </p:spTree>
    <p:extLst>
      <p:ext uri="{BB962C8B-B14F-4D97-AF65-F5344CB8AC3E}">
        <p14:creationId xmlns:p14="http://schemas.microsoft.com/office/powerpoint/2010/main" val="14232765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4DB337E-B985-CEEA-41E2-DA7D44B7201C}"/>
              </a:ext>
            </a:extLst>
          </p:cNvPr>
          <p:cNvSpPr txBox="1"/>
          <p:nvPr/>
        </p:nvSpPr>
        <p:spPr>
          <a:xfrm>
            <a:off x="1261152" y="193673"/>
            <a:ext cx="6097712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2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clc</a:t>
            </a:r>
            <a:r>
              <a:rPr lang="en-ID" sz="12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;  </a:t>
            </a:r>
          </a:p>
          <a:p>
            <a:r>
              <a:rPr lang="en-ID" sz="12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ID" sz="12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disp</a:t>
            </a:r>
            <a:r>
              <a:rPr lang="en-ID" sz="12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ID" sz="1200" b="0" i="0" u="none" strike="noStrike" baseline="0" dirty="0">
                <a:solidFill>
                  <a:srgbClr val="A020F0"/>
                </a:solidFill>
                <a:latin typeface="Courier New" panose="02070309020205020404" pitchFamily="49" charset="0"/>
              </a:rPr>
              <a:t>'</a:t>
            </a:r>
            <a:r>
              <a:rPr lang="en-ID" sz="1200" b="0" i="0" u="none" strike="noStrike" baseline="0" dirty="0" err="1">
                <a:solidFill>
                  <a:srgbClr val="A020F0"/>
                </a:solidFill>
                <a:latin typeface="Courier New" panose="02070309020205020404" pitchFamily="49" charset="0"/>
              </a:rPr>
              <a:t>Silahkan</a:t>
            </a:r>
            <a:r>
              <a:rPr lang="en-ID" sz="1200" b="0" i="0" u="none" strike="noStrike" baseline="0" dirty="0">
                <a:solidFill>
                  <a:srgbClr val="A020F0"/>
                </a:solidFill>
                <a:latin typeface="Courier New" panose="02070309020205020404" pitchFamily="49" charset="0"/>
              </a:rPr>
              <a:t> </a:t>
            </a:r>
            <a:r>
              <a:rPr lang="en-ID" sz="1200" b="0" i="0" u="none" strike="noStrike" baseline="0" dirty="0" err="1">
                <a:solidFill>
                  <a:srgbClr val="A020F0"/>
                </a:solidFill>
                <a:latin typeface="Courier New" panose="02070309020205020404" pitchFamily="49" charset="0"/>
              </a:rPr>
              <a:t>Pilih</a:t>
            </a:r>
            <a:r>
              <a:rPr lang="en-ID" sz="1200" b="0" i="0" u="none" strike="noStrike" baseline="0" dirty="0">
                <a:solidFill>
                  <a:srgbClr val="A020F0"/>
                </a:solidFill>
                <a:latin typeface="Courier New" panose="02070309020205020404" pitchFamily="49" charset="0"/>
              </a:rPr>
              <a:t> </a:t>
            </a:r>
            <a:r>
              <a:rPr lang="en-ID" sz="1200" b="0" i="0" u="none" strike="noStrike" baseline="0" dirty="0" err="1">
                <a:solidFill>
                  <a:srgbClr val="A020F0"/>
                </a:solidFill>
                <a:latin typeface="Courier New" panose="02070309020205020404" pitchFamily="49" charset="0"/>
              </a:rPr>
              <a:t>Untuk</a:t>
            </a:r>
            <a:r>
              <a:rPr lang="en-ID" sz="1200" b="0" i="0" u="none" strike="noStrike" baseline="0" dirty="0">
                <a:solidFill>
                  <a:srgbClr val="A020F0"/>
                </a:solidFill>
                <a:latin typeface="Courier New" panose="02070309020205020404" pitchFamily="49" charset="0"/>
              </a:rPr>
              <a:t> </a:t>
            </a:r>
            <a:r>
              <a:rPr lang="en-ID" sz="1200" b="0" i="0" u="none" strike="noStrike" baseline="0" dirty="0" err="1">
                <a:solidFill>
                  <a:srgbClr val="A020F0"/>
                </a:solidFill>
                <a:latin typeface="Courier New" panose="02070309020205020404" pitchFamily="49" charset="0"/>
              </a:rPr>
              <a:t>Mencari</a:t>
            </a:r>
            <a:r>
              <a:rPr lang="en-ID" sz="1200" b="0" i="0" u="none" strike="noStrike" baseline="0" dirty="0">
                <a:solidFill>
                  <a:srgbClr val="A020F0"/>
                </a:solidFill>
                <a:latin typeface="Courier New" panose="02070309020205020404" pitchFamily="49" charset="0"/>
              </a:rPr>
              <a:t> Luas </a:t>
            </a:r>
            <a:r>
              <a:rPr lang="en-ID" sz="1200" b="0" i="0" u="none" strike="noStrike" baseline="0" dirty="0" err="1">
                <a:solidFill>
                  <a:srgbClr val="A020F0"/>
                </a:solidFill>
                <a:latin typeface="Courier New" panose="02070309020205020404" pitchFamily="49" charset="0"/>
              </a:rPr>
              <a:t>Bangunan</a:t>
            </a:r>
            <a:r>
              <a:rPr lang="en-ID" sz="1200" b="0" i="0" u="none" strike="noStrike" baseline="0" dirty="0">
                <a:solidFill>
                  <a:srgbClr val="A020F0"/>
                </a:solidFill>
                <a:latin typeface="Courier New" panose="02070309020205020404" pitchFamily="49" charset="0"/>
              </a:rPr>
              <a:t>'</a:t>
            </a:r>
            <a:r>
              <a:rPr lang="en-ID" sz="12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);  </a:t>
            </a:r>
          </a:p>
          <a:p>
            <a:r>
              <a:rPr lang="en-ID" sz="12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ID" sz="12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disp</a:t>
            </a:r>
            <a:r>
              <a:rPr lang="en-ID" sz="12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ID" sz="1200" b="0" i="0" u="none" strike="noStrike" baseline="0" dirty="0">
                <a:solidFill>
                  <a:srgbClr val="A020F0"/>
                </a:solidFill>
                <a:latin typeface="Courier New" panose="02070309020205020404" pitchFamily="49" charset="0"/>
              </a:rPr>
              <a:t>'1. </a:t>
            </a:r>
            <a:r>
              <a:rPr lang="en-ID" sz="1200" b="0" i="0" u="none" strike="noStrike" baseline="0" dirty="0" err="1">
                <a:solidFill>
                  <a:srgbClr val="A020F0"/>
                </a:solidFill>
                <a:latin typeface="Courier New" panose="02070309020205020404" pitchFamily="49" charset="0"/>
              </a:rPr>
              <a:t>Lingkaran</a:t>
            </a:r>
            <a:r>
              <a:rPr lang="en-ID" sz="1200" b="0" i="0" u="none" strike="noStrike" baseline="0" dirty="0">
                <a:solidFill>
                  <a:srgbClr val="A020F0"/>
                </a:solidFill>
                <a:latin typeface="Courier New" panose="02070309020205020404" pitchFamily="49" charset="0"/>
              </a:rPr>
              <a:t>'</a:t>
            </a:r>
            <a:r>
              <a:rPr lang="en-ID" sz="12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);  </a:t>
            </a:r>
          </a:p>
          <a:p>
            <a:r>
              <a:rPr lang="en-ID" sz="12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ID" sz="12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disp</a:t>
            </a:r>
            <a:r>
              <a:rPr lang="en-ID" sz="12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ID" sz="1200" b="0" i="0" u="none" strike="noStrike" baseline="0" dirty="0">
                <a:solidFill>
                  <a:srgbClr val="A020F0"/>
                </a:solidFill>
                <a:latin typeface="Courier New" panose="02070309020205020404" pitchFamily="49" charset="0"/>
              </a:rPr>
              <a:t>'2. </a:t>
            </a:r>
            <a:r>
              <a:rPr lang="en-ID" sz="1200" b="0" i="0" u="none" strike="noStrike" baseline="0" dirty="0" err="1">
                <a:solidFill>
                  <a:srgbClr val="A020F0"/>
                </a:solidFill>
                <a:latin typeface="Courier New" panose="02070309020205020404" pitchFamily="49" charset="0"/>
              </a:rPr>
              <a:t>Trapesium</a:t>
            </a:r>
            <a:r>
              <a:rPr lang="en-ID" sz="1200" b="0" i="0" u="none" strike="noStrike" baseline="0" dirty="0">
                <a:solidFill>
                  <a:srgbClr val="A020F0"/>
                </a:solidFill>
                <a:latin typeface="Courier New" panose="02070309020205020404" pitchFamily="49" charset="0"/>
              </a:rPr>
              <a:t> '</a:t>
            </a:r>
            <a:r>
              <a:rPr lang="en-ID" sz="12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);  </a:t>
            </a:r>
          </a:p>
          <a:p>
            <a:r>
              <a:rPr lang="en-ID" sz="12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ID" sz="12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disp</a:t>
            </a:r>
            <a:r>
              <a:rPr lang="en-ID" sz="12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ID" sz="1200" b="0" i="0" u="none" strike="noStrike" baseline="0" dirty="0">
                <a:solidFill>
                  <a:srgbClr val="A020F0"/>
                </a:solidFill>
                <a:latin typeface="Courier New" panose="02070309020205020404" pitchFamily="49" charset="0"/>
              </a:rPr>
              <a:t>'3. </a:t>
            </a:r>
            <a:r>
              <a:rPr lang="en-ID" sz="1200" b="0" i="0" u="none" strike="noStrike" baseline="0" dirty="0" err="1">
                <a:solidFill>
                  <a:srgbClr val="A020F0"/>
                </a:solidFill>
                <a:latin typeface="Courier New" panose="02070309020205020404" pitchFamily="49" charset="0"/>
              </a:rPr>
              <a:t>Jajargenjang</a:t>
            </a:r>
            <a:r>
              <a:rPr lang="en-ID" sz="1200" b="0" i="0" u="none" strike="noStrike" baseline="0" dirty="0">
                <a:solidFill>
                  <a:srgbClr val="A020F0"/>
                </a:solidFill>
                <a:latin typeface="Courier New" panose="02070309020205020404" pitchFamily="49" charset="0"/>
              </a:rPr>
              <a:t>'</a:t>
            </a:r>
            <a:r>
              <a:rPr lang="en-ID" sz="12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);  </a:t>
            </a:r>
          </a:p>
          <a:p>
            <a:r>
              <a:rPr lang="en-ID" sz="12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ID" sz="12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disp</a:t>
            </a:r>
            <a:r>
              <a:rPr lang="en-ID" sz="12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ID" sz="1200" b="0" i="0" u="none" strike="noStrike" baseline="0" dirty="0">
                <a:solidFill>
                  <a:srgbClr val="A020F0"/>
                </a:solidFill>
                <a:latin typeface="Courier New" panose="02070309020205020404" pitchFamily="49" charset="0"/>
              </a:rPr>
              <a:t>'4. </a:t>
            </a:r>
            <a:r>
              <a:rPr lang="en-ID" sz="1200" b="0" i="0" u="none" strike="noStrike" baseline="0" dirty="0" err="1">
                <a:solidFill>
                  <a:srgbClr val="A020F0"/>
                </a:solidFill>
                <a:latin typeface="Courier New" panose="02070309020205020404" pitchFamily="49" charset="0"/>
              </a:rPr>
              <a:t>Segitiga</a:t>
            </a:r>
            <a:r>
              <a:rPr lang="en-ID" sz="1200" b="0" i="0" u="none" strike="noStrike" baseline="0" dirty="0">
                <a:solidFill>
                  <a:srgbClr val="A020F0"/>
                </a:solidFill>
                <a:latin typeface="Courier New" panose="02070309020205020404" pitchFamily="49" charset="0"/>
              </a:rPr>
              <a:t>'</a:t>
            </a:r>
            <a:r>
              <a:rPr lang="en-ID" sz="12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);  </a:t>
            </a:r>
          </a:p>
          <a:p>
            <a:r>
              <a:rPr lang="en-ID" sz="12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ID" sz="12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disp</a:t>
            </a:r>
            <a:r>
              <a:rPr lang="en-ID" sz="12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ID" sz="1200" b="0" i="0" u="none" strike="noStrike" baseline="0" dirty="0">
                <a:solidFill>
                  <a:srgbClr val="A020F0"/>
                </a:solidFill>
                <a:latin typeface="Courier New" panose="02070309020205020404" pitchFamily="49" charset="0"/>
              </a:rPr>
              <a:t>'5. </a:t>
            </a:r>
            <a:r>
              <a:rPr lang="en-ID" sz="1200" b="0" i="0" u="none" strike="noStrike" baseline="0" dirty="0" err="1">
                <a:solidFill>
                  <a:srgbClr val="A020F0"/>
                </a:solidFill>
                <a:latin typeface="Courier New" panose="02070309020205020404" pitchFamily="49" charset="0"/>
              </a:rPr>
              <a:t>Persegi</a:t>
            </a:r>
            <a:r>
              <a:rPr lang="en-ID" sz="1200" b="0" i="0" u="none" strike="noStrike" baseline="0" dirty="0">
                <a:solidFill>
                  <a:srgbClr val="A020F0"/>
                </a:solidFill>
                <a:latin typeface="Courier New" panose="02070309020205020404" pitchFamily="49" charset="0"/>
              </a:rPr>
              <a:t> Panjang'</a:t>
            </a:r>
            <a:r>
              <a:rPr lang="en-ID" sz="12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);  </a:t>
            </a:r>
          </a:p>
          <a:p>
            <a:r>
              <a:rPr lang="en-US" sz="12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n = input(</a:t>
            </a:r>
            <a:r>
              <a:rPr lang="en-US" sz="1200" b="0" i="0" u="none" strike="noStrike" baseline="0" dirty="0">
                <a:solidFill>
                  <a:srgbClr val="A020F0"/>
                </a:solidFill>
                <a:latin typeface="Courier New" panose="02070309020205020404" pitchFamily="49" charset="0"/>
              </a:rPr>
              <a:t>'</a:t>
            </a:r>
            <a:r>
              <a:rPr lang="en-US" sz="1200" b="0" i="0" u="none" strike="noStrike" baseline="0" dirty="0" err="1">
                <a:solidFill>
                  <a:srgbClr val="A020F0"/>
                </a:solidFill>
                <a:latin typeface="Courier New" panose="02070309020205020404" pitchFamily="49" charset="0"/>
              </a:rPr>
              <a:t>Metoda</a:t>
            </a:r>
            <a:r>
              <a:rPr lang="en-US" sz="1200" b="0" i="0" u="none" strike="noStrike" baseline="0" dirty="0">
                <a:solidFill>
                  <a:srgbClr val="A020F0"/>
                </a:solidFill>
                <a:latin typeface="Courier New" panose="02070309020205020404" pitchFamily="49" charset="0"/>
              </a:rPr>
              <a:t> yang </a:t>
            </a:r>
            <a:r>
              <a:rPr lang="en-US" sz="1200" b="0" i="0" u="none" strike="noStrike" baseline="0" dirty="0" err="1">
                <a:solidFill>
                  <a:srgbClr val="A020F0"/>
                </a:solidFill>
                <a:latin typeface="Courier New" panose="02070309020205020404" pitchFamily="49" charset="0"/>
              </a:rPr>
              <a:t>dipilih</a:t>
            </a:r>
            <a:r>
              <a:rPr lang="en-US" sz="1200" b="0" i="0" u="none" strike="noStrike" baseline="0" dirty="0">
                <a:solidFill>
                  <a:srgbClr val="A020F0"/>
                </a:solidFill>
                <a:latin typeface="Courier New" panose="02070309020205020404" pitchFamily="49" charset="0"/>
              </a:rPr>
              <a:t> </a:t>
            </a:r>
            <a:r>
              <a:rPr lang="en-US" sz="1200" b="0" i="0" u="none" strike="noStrike" baseline="0" dirty="0" err="1">
                <a:solidFill>
                  <a:srgbClr val="A020F0"/>
                </a:solidFill>
                <a:latin typeface="Courier New" panose="02070309020205020404" pitchFamily="49" charset="0"/>
              </a:rPr>
              <a:t>nomor</a:t>
            </a:r>
            <a:r>
              <a:rPr lang="en-US" sz="1200" b="0" i="0" u="none" strike="noStrike" baseline="0" dirty="0">
                <a:solidFill>
                  <a:srgbClr val="A020F0"/>
                </a:solidFill>
                <a:latin typeface="Courier New" panose="02070309020205020404" pitchFamily="49" charset="0"/>
              </a:rPr>
              <a:t> 1 s/d 5 = '</a:t>
            </a:r>
            <a:r>
              <a:rPr lang="en-US" sz="12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);  </a:t>
            </a:r>
          </a:p>
          <a:p>
            <a:r>
              <a:rPr lang="en-ID" sz="12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ID" sz="12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switch</a:t>
            </a:r>
            <a:r>
              <a:rPr lang="en-ID" sz="12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n  </a:t>
            </a:r>
          </a:p>
          <a:p>
            <a:r>
              <a:rPr lang="en-ID" sz="12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ID" sz="12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case</a:t>
            </a:r>
            <a:r>
              <a:rPr lang="en-ID" sz="12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(1), </a:t>
            </a:r>
            <a:r>
              <a:rPr lang="en-ID" sz="12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disp</a:t>
            </a:r>
            <a:r>
              <a:rPr lang="en-ID" sz="12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ID" sz="1200" b="0" i="0" u="none" strike="noStrike" baseline="0" dirty="0">
                <a:solidFill>
                  <a:srgbClr val="A020F0"/>
                </a:solidFill>
                <a:latin typeface="Courier New" panose="02070309020205020404" pitchFamily="49" charset="0"/>
              </a:rPr>
              <a:t>'</a:t>
            </a:r>
            <a:r>
              <a:rPr lang="en-ID" sz="1200" b="0" i="0" u="none" strike="noStrike" baseline="0" dirty="0" err="1">
                <a:solidFill>
                  <a:srgbClr val="A020F0"/>
                </a:solidFill>
                <a:latin typeface="Courier New" panose="02070309020205020404" pitchFamily="49" charset="0"/>
              </a:rPr>
              <a:t>Menghitung</a:t>
            </a:r>
            <a:r>
              <a:rPr lang="en-ID" sz="1200" b="0" i="0" u="none" strike="noStrike" baseline="0" dirty="0">
                <a:solidFill>
                  <a:srgbClr val="A020F0"/>
                </a:solidFill>
                <a:latin typeface="Courier New" panose="02070309020205020404" pitchFamily="49" charset="0"/>
              </a:rPr>
              <a:t> </a:t>
            </a:r>
            <a:r>
              <a:rPr lang="en-ID" sz="1200" b="0" i="0" u="none" strike="noStrike" baseline="0" dirty="0" err="1">
                <a:solidFill>
                  <a:srgbClr val="A020F0"/>
                </a:solidFill>
                <a:latin typeface="Courier New" panose="02070309020205020404" pitchFamily="49" charset="0"/>
              </a:rPr>
              <a:t>luas</a:t>
            </a:r>
            <a:r>
              <a:rPr lang="en-ID" sz="1200" b="0" i="0" u="none" strike="noStrike" baseline="0" dirty="0">
                <a:solidFill>
                  <a:srgbClr val="A020F0"/>
                </a:solidFill>
                <a:latin typeface="Courier New" panose="02070309020205020404" pitchFamily="49" charset="0"/>
              </a:rPr>
              <a:t> </a:t>
            </a:r>
            <a:r>
              <a:rPr lang="en-ID" sz="1200" b="0" i="0" u="none" strike="noStrike" baseline="0" dirty="0" err="1">
                <a:solidFill>
                  <a:srgbClr val="A020F0"/>
                </a:solidFill>
                <a:latin typeface="Courier New" panose="02070309020205020404" pitchFamily="49" charset="0"/>
              </a:rPr>
              <a:t>lingkaran</a:t>
            </a:r>
            <a:r>
              <a:rPr lang="en-ID" sz="1200" b="0" i="0" u="none" strike="noStrike" baseline="0" dirty="0">
                <a:solidFill>
                  <a:srgbClr val="A020F0"/>
                </a:solidFill>
                <a:latin typeface="Courier New" panose="02070309020205020404" pitchFamily="49" charset="0"/>
              </a:rPr>
              <a:t>'</a:t>
            </a:r>
            <a:r>
              <a:rPr lang="en-ID" sz="12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);  </a:t>
            </a:r>
          </a:p>
          <a:p>
            <a:r>
              <a:rPr lang="en-ID" sz="12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  r = input(</a:t>
            </a:r>
            <a:r>
              <a:rPr lang="en-ID" sz="1200" b="0" i="0" u="none" strike="noStrike" baseline="0" dirty="0">
                <a:solidFill>
                  <a:srgbClr val="A020F0"/>
                </a:solidFill>
                <a:latin typeface="Courier New" panose="02070309020205020404" pitchFamily="49" charset="0"/>
              </a:rPr>
              <a:t>'</a:t>
            </a:r>
            <a:r>
              <a:rPr lang="en-ID" sz="1200" b="0" i="0" u="none" strike="noStrike" baseline="0" dirty="0" err="1">
                <a:solidFill>
                  <a:srgbClr val="A020F0"/>
                </a:solidFill>
                <a:latin typeface="Courier New" panose="02070309020205020404" pitchFamily="49" charset="0"/>
              </a:rPr>
              <a:t>Jari-jari</a:t>
            </a:r>
            <a:r>
              <a:rPr lang="en-ID" sz="1200" b="0" i="0" u="none" strike="noStrike" baseline="0" dirty="0">
                <a:solidFill>
                  <a:srgbClr val="A020F0"/>
                </a:solidFill>
                <a:latin typeface="Courier New" panose="02070309020205020404" pitchFamily="49" charset="0"/>
              </a:rPr>
              <a:t> : '</a:t>
            </a:r>
            <a:r>
              <a:rPr lang="en-ID" sz="12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);  </a:t>
            </a:r>
          </a:p>
          <a:p>
            <a:r>
              <a:rPr lang="en-ID" sz="12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  </a:t>
            </a:r>
            <a:r>
              <a:rPr lang="en-ID" sz="12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luas</a:t>
            </a:r>
            <a:r>
              <a:rPr lang="en-ID" sz="12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= pi*r^2;  </a:t>
            </a:r>
          </a:p>
          <a:p>
            <a:r>
              <a:rPr lang="en-ID" sz="12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  </a:t>
            </a:r>
            <a:r>
              <a:rPr lang="en-ID" sz="12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luas</a:t>
            </a:r>
            <a:r>
              <a:rPr lang="en-ID" sz="12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 </a:t>
            </a:r>
          </a:p>
          <a:p>
            <a:r>
              <a:rPr lang="en-ID" sz="12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ID" sz="12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case</a:t>
            </a:r>
            <a:r>
              <a:rPr lang="en-ID" sz="12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(2), </a:t>
            </a:r>
            <a:r>
              <a:rPr lang="en-ID" sz="12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disp</a:t>
            </a:r>
            <a:r>
              <a:rPr lang="en-ID" sz="12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ID" sz="1200" b="0" i="0" u="none" strike="noStrike" baseline="0" dirty="0">
                <a:solidFill>
                  <a:srgbClr val="A020F0"/>
                </a:solidFill>
                <a:latin typeface="Courier New" panose="02070309020205020404" pitchFamily="49" charset="0"/>
              </a:rPr>
              <a:t>'</a:t>
            </a:r>
            <a:r>
              <a:rPr lang="en-ID" sz="1200" b="0" i="0" u="none" strike="noStrike" baseline="0" dirty="0" err="1">
                <a:solidFill>
                  <a:srgbClr val="A020F0"/>
                </a:solidFill>
                <a:latin typeface="Courier New" panose="02070309020205020404" pitchFamily="49" charset="0"/>
              </a:rPr>
              <a:t>Menghitung</a:t>
            </a:r>
            <a:r>
              <a:rPr lang="en-ID" sz="1200" b="0" i="0" u="none" strike="noStrike" baseline="0" dirty="0">
                <a:solidFill>
                  <a:srgbClr val="A020F0"/>
                </a:solidFill>
                <a:latin typeface="Courier New" panose="02070309020205020404" pitchFamily="49" charset="0"/>
              </a:rPr>
              <a:t> </a:t>
            </a:r>
            <a:r>
              <a:rPr lang="en-ID" sz="1200" b="0" i="0" u="none" strike="noStrike" baseline="0" dirty="0" err="1">
                <a:solidFill>
                  <a:srgbClr val="A020F0"/>
                </a:solidFill>
                <a:latin typeface="Courier New" panose="02070309020205020404" pitchFamily="49" charset="0"/>
              </a:rPr>
              <a:t>luas</a:t>
            </a:r>
            <a:r>
              <a:rPr lang="en-ID" sz="1200" b="0" i="0" u="none" strike="noStrike" baseline="0" dirty="0">
                <a:solidFill>
                  <a:srgbClr val="A020F0"/>
                </a:solidFill>
                <a:latin typeface="Courier New" panose="02070309020205020404" pitchFamily="49" charset="0"/>
              </a:rPr>
              <a:t> </a:t>
            </a:r>
            <a:r>
              <a:rPr lang="en-ID" sz="1200" b="0" i="0" u="none" strike="noStrike" baseline="0" dirty="0" err="1">
                <a:solidFill>
                  <a:srgbClr val="A020F0"/>
                </a:solidFill>
                <a:latin typeface="Courier New" panose="02070309020205020404" pitchFamily="49" charset="0"/>
              </a:rPr>
              <a:t>Trapesium</a:t>
            </a:r>
            <a:r>
              <a:rPr lang="en-ID" sz="1200" b="0" i="0" u="none" strike="noStrike" baseline="0" dirty="0">
                <a:solidFill>
                  <a:srgbClr val="A020F0"/>
                </a:solidFill>
                <a:latin typeface="Courier New" panose="02070309020205020404" pitchFamily="49" charset="0"/>
              </a:rPr>
              <a:t>'</a:t>
            </a:r>
            <a:r>
              <a:rPr lang="en-ID" sz="12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);  </a:t>
            </a:r>
          </a:p>
          <a:p>
            <a:r>
              <a:rPr lang="en-ID" sz="12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  r1 = input(</a:t>
            </a:r>
            <a:r>
              <a:rPr lang="en-ID" sz="1200" b="0" i="0" u="none" strike="noStrike" baseline="0" dirty="0">
                <a:solidFill>
                  <a:srgbClr val="A020F0"/>
                </a:solidFill>
                <a:latin typeface="Courier New" panose="02070309020205020404" pitchFamily="49" charset="0"/>
              </a:rPr>
              <a:t>'</a:t>
            </a:r>
            <a:r>
              <a:rPr lang="en-ID" sz="1200" b="0" i="0" u="none" strike="noStrike" baseline="0" dirty="0" err="1">
                <a:solidFill>
                  <a:srgbClr val="A020F0"/>
                </a:solidFill>
                <a:latin typeface="Courier New" panose="02070309020205020404" pitchFamily="49" charset="0"/>
              </a:rPr>
              <a:t>Rusuk</a:t>
            </a:r>
            <a:r>
              <a:rPr lang="en-ID" sz="1200" b="0" i="0" u="none" strike="noStrike" baseline="0" dirty="0">
                <a:solidFill>
                  <a:srgbClr val="A020F0"/>
                </a:solidFill>
                <a:latin typeface="Courier New" panose="02070309020205020404" pitchFamily="49" charset="0"/>
              </a:rPr>
              <a:t> 1 : '</a:t>
            </a:r>
            <a:r>
              <a:rPr lang="en-ID" sz="12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);  </a:t>
            </a:r>
          </a:p>
          <a:p>
            <a:r>
              <a:rPr lang="en-ID" sz="12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  r2 = input(</a:t>
            </a:r>
            <a:r>
              <a:rPr lang="en-ID" sz="1200" b="0" i="0" u="none" strike="noStrike" baseline="0" dirty="0">
                <a:solidFill>
                  <a:srgbClr val="A020F0"/>
                </a:solidFill>
                <a:latin typeface="Courier New" panose="02070309020205020404" pitchFamily="49" charset="0"/>
              </a:rPr>
              <a:t>'</a:t>
            </a:r>
            <a:r>
              <a:rPr lang="en-ID" sz="1200" b="0" i="0" u="none" strike="noStrike" baseline="0" dirty="0" err="1">
                <a:solidFill>
                  <a:srgbClr val="A020F0"/>
                </a:solidFill>
                <a:latin typeface="Courier New" panose="02070309020205020404" pitchFamily="49" charset="0"/>
              </a:rPr>
              <a:t>Rusuk</a:t>
            </a:r>
            <a:r>
              <a:rPr lang="en-ID" sz="1200" b="0" i="0" u="none" strike="noStrike" baseline="0" dirty="0">
                <a:solidFill>
                  <a:srgbClr val="A020F0"/>
                </a:solidFill>
                <a:latin typeface="Courier New" panose="02070309020205020404" pitchFamily="49" charset="0"/>
              </a:rPr>
              <a:t> 2 : '</a:t>
            </a:r>
            <a:r>
              <a:rPr lang="en-ID" sz="12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);  </a:t>
            </a:r>
          </a:p>
          <a:p>
            <a:r>
              <a:rPr lang="en-ID" sz="12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  </a:t>
            </a:r>
            <a:r>
              <a:rPr lang="en-ID" sz="12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luas</a:t>
            </a:r>
            <a:r>
              <a:rPr lang="en-ID" sz="12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= (r1+r2)*5/2;  </a:t>
            </a:r>
          </a:p>
          <a:p>
            <a:r>
              <a:rPr lang="en-ID" sz="12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  </a:t>
            </a:r>
            <a:r>
              <a:rPr lang="en-ID" sz="12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luas</a:t>
            </a:r>
            <a:r>
              <a:rPr lang="en-ID" sz="12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 </a:t>
            </a:r>
          </a:p>
          <a:p>
            <a:r>
              <a:rPr lang="en-ID" sz="12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ID" sz="12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case</a:t>
            </a:r>
            <a:r>
              <a:rPr lang="en-ID" sz="12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(3), </a:t>
            </a:r>
            <a:r>
              <a:rPr lang="en-ID" sz="12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disp</a:t>
            </a:r>
            <a:r>
              <a:rPr lang="en-ID" sz="12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ID" sz="1200" b="0" i="0" u="none" strike="noStrike" baseline="0" dirty="0">
                <a:solidFill>
                  <a:srgbClr val="A020F0"/>
                </a:solidFill>
                <a:latin typeface="Courier New" panose="02070309020205020404" pitchFamily="49" charset="0"/>
              </a:rPr>
              <a:t>'</a:t>
            </a:r>
            <a:r>
              <a:rPr lang="en-ID" sz="1200" b="0" i="0" u="none" strike="noStrike" baseline="0" dirty="0" err="1">
                <a:solidFill>
                  <a:srgbClr val="A020F0"/>
                </a:solidFill>
                <a:latin typeface="Courier New" panose="02070309020205020404" pitchFamily="49" charset="0"/>
              </a:rPr>
              <a:t>Menghitung</a:t>
            </a:r>
            <a:r>
              <a:rPr lang="en-ID" sz="1200" b="0" i="0" u="none" strike="noStrike" baseline="0" dirty="0">
                <a:solidFill>
                  <a:srgbClr val="A020F0"/>
                </a:solidFill>
                <a:latin typeface="Courier New" panose="02070309020205020404" pitchFamily="49" charset="0"/>
              </a:rPr>
              <a:t> </a:t>
            </a:r>
            <a:r>
              <a:rPr lang="en-ID" sz="1200" b="0" i="0" u="none" strike="noStrike" baseline="0" dirty="0" err="1">
                <a:solidFill>
                  <a:srgbClr val="A020F0"/>
                </a:solidFill>
                <a:latin typeface="Courier New" panose="02070309020205020404" pitchFamily="49" charset="0"/>
              </a:rPr>
              <a:t>luas</a:t>
            </a:r>
            <a:r>
              <a:rPr lang="en-ID" sz="1200" b="0" i="0" u="none" strike="noStrike" baseline="0" dirty="0">
                <a:solidFill>
                  <a:srgbClr val="A020F0"/>
                </a:solidFill>
                <a:latin typeface="Courier New" panose="02070309020205020404" pitchFamily="49" charset="0"/>
              </a:rPr>
              <a:t> </a:t>
            </a:r>
            <a:r>
              <a:rPr lang="en-ID" sz="1200" b="0" i="0" u="none" strike="noStrike" baseline="0" dirty="0" err="1">
                <a:solidFill>
                  <a:srgbClr val="A020F0"/>
                </a:solidFill>
                <a:latin typeface="Courier New" panose="02070309020205020404" pitchFamily="49" charset="0"/>
              </a:rPr>
              <a:t>Jajargenjang</a:t>
            </a:r>
            <a:r>
              <a:rPr lang="en-ID" sz="1200" b="0" i="0" u="none" strike="noStrike" baseline="0" dirty="0">
                <a:solidFill>
                  <a:srgbClr val="A020F0"/>
                </a:solidFill>
                <a:latin typeface="Courier New" panose="02070309020205020404" pitchFamily="49" charset="0"/>
              </a:rPr>
              <a:t>'</a:t>
            </a:r>
            <a:r>
              <a:rPr lang="en-ID" sz="12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);  </a:t>
            </a:r>
          </a:p>
          <a:p>
            <a:r>
              <a:rPr lang="en-ID" sz="12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  a = input(</a:t>
            </a:r>
            <a:r>
              <a:rPr lang="en-ID" sz="1200" b="0" i="0" u="none" strike="noStrike" baseline="0" dirty="0">
                <a:solidFill>
                  <a:srgbClr val="A020F0"/>
                </a:solidFill>
                <a:latin typeface="Courier New" panose="02070309020205020404" pitchFamily="49" charset="0"/>
              </a:rPr>
              <a:t>'Alas : '</a:t>
            </a:r>
            <a:r>
              <a:rPr lang="en-ID" sz="12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);  </a:t>
            </a:r>
          </a:p>
          <a:p>
            <a:r>
              <a:rPr lang="en-ID" sz="12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  t = input(</a:t>
            </a:r>
            <a:r>
              <a:rPr lang="en-ID" sz="1200" b="0" i="0" u="none" strike="noStrike" baseline="0" dirty="0">
                <a:solidFill>
                  <a:srgbClr val="A020F0"/>
                </a:solidFill>
                <a:latin typeface="Courier New" panose="02070309020205020404" pitchFamily="49" charset="0"/>
              </a:rPr>
              <a:t>'Tinggi : '</a:t>
            </a:r>
            <a:r>
              <a:rPr lang="en-ID" sz="12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);  </a:t>
            </a:r>
          </a:p>
          <a:p>
            <a:r>
              <a:rPr lang="en-ID" sz="12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  </a:t>
            </a:r>
            <a:r>
              <a:rPr lang="en-ID" sz="12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luas</a:t>
            </a:r>
            <a:r>
              <a:rPr lang="en-ID" sz="12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= a*t;  </a:t>
            </a:r>
          </a:p>
          <a:p>
            <a:r>
              <a:rPr lang="en-ID" sz="12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  </a:t>
            </a:r>
            <a:r>
              <a:rPr lang="en-ID" sz="12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luas</a:t>
            </a:r>
            <a:r>
              <a:rPr lang="en-ID" sz="12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 </a:t>
            </a:r>
          </a:p>
          <a:p>
            <a:r>
              <a:rPr lang="en-ID" sz="12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ID" sz="12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case</a:t>
            </a:r>
            <a:r>
              <a:rPr lang="en-ID" sz="12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(4), </a:t>
            </a:r>
            <a:r>
              <a:rPr lang="en-ID" sz="12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disp</a:t>
            </a:r>
            <a:r>
              <a:rPr lang="en-ID" sz="12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ID" sz="1200" b="0" i="0" u="none" strike="noStrike" baseline="0" dirty="0">
                <a:solidFill>
                  <a:srgbClr val="A020F0"/>
                </a:solidFill>
                <a:latin typeface="Courier New" panose="02070309020205020404" pitchFamily="49" charset="0"/>
              </a:rPr>
              <a:t>'</a:t>
            </a:r>
            <a:r>
              <a:rPr lang="en-ID" sz="1200" b="0" i="0" u="none" strike="noStrike" baseline="0" dirty="0" err="1">
                <a:solidFill>
                  <a:srgbClr val="A020F0"/>
                </a:solidFill>
                <a:latin typeface="Courier New" panose="02070309020205020404" pitchFamily="49" charset="0"/>
              </a:rPr>
              <a:t>Menghitung</a:t>
            </a:r>
            <a:r>
              <a:rPr lang="en-ID" sz="1200" b="0" i="0" u="none" strike="noStrike" baseline="0" dirty="0">
                <a:solidFill>
                  <a:srgbClr val="A020F0"/>
                </a:solidFill>
                <a:latin typeface="Courier New" panose="02070309020205020404" pitchFamily="49" charset="0"/>
              </a:rPr>
              <a:t> </a:t>
            </a:r>
            <a:r>
              <a:rPr lang="en-ID" sz="1200" b="0" i="0" u="none" strike="noStrike" baseline="0" dirty="0" err="1">
                <a:solidFill>
                  <a:srgbClr val="A020F0"/>
                </a:solidFill>
                <a:latin typeface="Courier New" panose="02070309020205020404" pitchFamily="49" charset="0"/>
              </a:rPr>
              <a:t>luas</a:t>
            </a:r>
            <a:r>
              <a:rPr lang="en-ID" sz="1200" b="0" i="0" u="none" strike="noStrike" baseline="0" dirty="0">
                <a:solidFill>
                  <a:srgbClr val="A020F0"/>
                </a:solidFill>
                <a:latin typeface="Courier New" panose="02070309020205020404" pitchFamily="49" charset="0"/>
              </a:rPr>
              <a:t> </a:t>
            </a:r>
            <a:r>
              <a:rPr lang="en-ID" sz="1200" b="0" i="0" u="none" strike="noStrike" baseline="0" dirty="0" err="1">
                <a:solidFill>
                  <a:srgbClr val="A020F0"/>
                </a:solidFill>
                <a:latin typeface="Courier New" panose="02070309020205020404" pitchFamily="49" charset="0"/>
              </a:rPr>
              <a:t>Segitiga</a:t>
            </a:r>
            <a:r>
              <a:rPr lang="en-ID" sz="1200" b="0" i="0" u="none" strike="noStrike" baseline="0" dirty="0">
                <a:solidFill>
                  <a:srgbClr val="A020F0"/>
                </a:solidFill>
                <a:latin typeface="Courier New" panose="02070309020205020404" pitchFamily="49" charset="0"/>
              </a:rPr>
              <a:t>'</a:t>
            </a:r>
            <a:r>
              <a:rPr lang="en-ID" sz="12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);  </a:t>
            </a:r>
          </a:p>
          <a:p>
            <a:r>
              <a:rPr lang="en-ID" sz="12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  a = input(</a:t>
            </a:r>
            <a:r>
              <a:rPr lang="en-ID" sz="1200" b="0" i="0" u="none" strike="noStrike" baseline="0" dirty="0">
                <a:solidFill>
                  <a:srgbClr val="A020F0"/>
                </a:solidFill>
                <a:latin typeface="Courier New" panose="02070309020205020404" pitchFamily="49" charset="0"/>
              </a:rPr>
              <a:t>'Alas : '</a:t>
            </a:r>
            <a:r>
              <a:rPr lang="en-ID" sz="12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);  </a:t>
            </a:r>
          </a:p>
          <a:p>
            <a:r>
              <a:rPr lang="en-ID" sz="12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  t = input(</a:t>
            </a:r>
            <a:r>
              <a:rPr lang="en-ID" sz="1200" b="0" i="0" u="none" strike="noStrike" baseline="0" dirty="0">
                <a:solidFill>
                  <a:srgbClr val="A020F0"/>
                </a:solidFill>
                <a:latin typeface="Courier New" panose="02070309020205020404" pitchFamily="49" charset="0"/>
              </a:rPr>
              <a:t>'Tinggi : '</a:t>
            </a:r>
            <a:r>
              <a:rPr lang="en-ID" sz="12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);  </a:t>
            </a:r>
          </a:p>
          <a:p>
            <a:r>
              <a:rPr lang="en-ID" sz="12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  </a:t>
            </a:r>
            <a:r>
              <a:rPr lang="en-ID" sz="12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luas</a:t>
            </a:r>
            <a:r>
              <a:rPr lang="en-ID" sz="12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= a*t/2;  </a:t>
            </a:r>
          </a:p>
          <a:p>
            <a:r>
              <a:rPr lang="en-ID" sz="12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  </a:t>
            </a:r>
            <a:r>
              <a:rPr lang="en-ID" sz="12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luas</a:t>
            </a:r>
            <a:r>
              <a:rPr lang="en-ID" sz="12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 </a:t>
            </a:r>
          </a:p>
          <a:p>
            <a:r>
              <a:rPr lang="en-ID" sz="12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ID" sz="12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case</a:t>
            </a:r>
            <a:r>
              <a:rPr lang="en-ID" sz="12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(5), </a:t>
            </a:r>
            <a:r>
              <a:rPr lang="en-ID" sz="12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disp</a:t>
            </a:r>
            <a:r>
              <a:rPr lang="en-ID" sz="12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ID" sz="1200" b="0" i="0" u="none" strike="noStrike" baseline="0" dirty="0">
                <a:solidFill>
                  <a:srgbClr val="A020F0"/>
                </a:solidFill>
                <a:latin typeface="Courier New" panose="02070309020205020404" pitchFamily="49" charset="0"/>
              </a:rPr>
              <a:t>'</a:t>
            </a:r>
            <a:r>
              <a:rPr lang="en-ID" sz="1200" b="0" i="0" u="none" strike="noStrike" baseline="0" dirty="0" err="1">
                <a:solidFill>
                  <a:srgbClr val="A020F0"/>
                </a:solidFill>
                <a:latin typeface="Courier New" panose="02070309020205020404" pitchFamily="49" charset="0"/>
              </a:rPr>
              <a:t>Menghitung</a:t>
            </a:r>
            <a:r>
              <a:rPr lang="en-ID" sz="1200" b="0" i="0" u="none" strike="noStrike" baseline="0" dirty="0">
                <a:solidFill>
                  <a:srgbClr val="A020F0"/>
                </a:solidFill>
                <a:latin typeface="Courier New" panose="02070309020205020404" pitchFamily="49" charset="0"/>
              </a:rPr>
              <a:t> </a:t>
            </a:r>
            <a:r>
              <a:rPr lang="en-ID" sz="1200" b="0" i="0" u="none" strike="noStrike" baseline="0" dirty="0" err="1">
                <a:solidFill>
                  <a:srgbClr val="A020F0"/>
                </a:solidFill>
                <a:latin typeface="Courier New" panose="02070309020205020404" pitchFamily="49" charset="0"/>
              </a:rPr>
              <a:t>luas</a:t>
            </a:r>
            <a:r>
              <a:rPr lang="en-ID" sz="1200" b="0" i="0" u="none" strike="noStrike" baseline="0" dirty="0">
                <a:solidFill>
                  <a:srgbClr val="A020F0"/>
                </a:solidFill>
                <a:latin typeface="Courier New" panose="02070309020205020404" pitchFamily="49" charset="0"/>
              </a:rPr>
              <a:t> </a:t>
            </a:r>
            <a:r>
              <a:rPr lang="en-ID" sz="1200" b="0" i="0" u="none" strike="noStrike" baseline="0" dirty="0" err="1">
                <a:solidFill>
                  <a:srgbClr val="A020F0"/>
                </a:solidFill>
                <a:latin typeface="Courier New" panose="02070309020205020404" pitchFamily="49" charset="0"/>
              </a:rPr>
              <a:t>Persegi</a:t>
            </a:r>
            <a:r>
              <a:rPr lang="en-ID" sz="1200" b="0" i="0" u="none" strike="noStrike" baseline="0" dirty="0">
                <a:solidFill>
                  <a:srgbClr val="A020F0"/>
                </a:solidFill>
                <a:latin typeface="Courier New" panose="02070309020205020404" pitchFamily="49" charset="0"/>
              </a:rPr>
              <a:t> </a:t>
            </a:r>
            <a:r>
              <a:rPr lang="en-ID" sz="1200" b="0" i="0" u="none" strike="noStrike" baseline="0" dirty="0" err="1">
                <a:solidFill>
                  <a:srgbClr val="A020F0"/>
                </a:solidFill>
                <a:latin typeface="Courier New" panose="02070309020205020404" pitchFamily="49" charset="0"/>
              </a:rPr>
              <a:t>panjang</a:t>
            </a:r>
            <a:r>
              <a:rPr lang="en-ID" sz="1200" b="0" i="0" u="none" strike="noStrike" baseline="0" dirty="0">
                <a:solidFill>
                  <a:srgbClr val="A020F0"/>
                </a:solidFill>
                <a:latin typeface="Courier New" panose="02070309020205020404" pitchFamily="49" charset="0"/>
              </a:rPr>
              <a:t>'</a:t>
            </a:r>
            <a:r>
              <a:rPr lang="en-ID" sz="12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);  </a:t>
            </a:r>
          </a:p>
          <a:p>
            <a:r>
              <a:rPr lang="en-ID" sz="12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  p = input(</a:t>
            </a:r>
            <a:r>
              <a:rPr lang="en-ID" sz="1200" b="0" i="0" u="none" strike="noStrike" baseline="0" dirty="0">
                <a:solidFill>
                  <a:srgbClr val="A020F0"/>
                </a:solidFill>
                <a:latin typeface="Courier New" panose="02070309020205020404" pitchFamily="49" charset="0"/>
              </a:rPr>
              <a:t>'Panjang : '</a:t>
            </a:r>
            <a:r>
              <a:rPr lang="en-ID" sz="12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);  </a:t>
            </a:r>
          </a:p>
          <a:p>
            <a:r>
              <a:rPr lang="en-ID" sz="12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  l = input(</a:t>
            </a:r>
            <a:r>
              <a:rPr lang="en-ID" sz="1200" b="0" i="0" u="none" strike="noStrike" baseline="0" dirty="0">
                <a:solidFill>
                  <a:srgbClr val="A020F0"/>
                </a:solidFill>
                <a:latin typeface="Courier New" panose="02070309020205020404" pitchFamily="49" charset="0"/>
              </a:rPr>
              <a:t>'Lebar : '</a:t>
            </a:r>
            <a:r>
              <a:rPr lang="en-ID" sz="12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);  </a:t>
            </a:r>
          </a:p>
          <a:p>
            <a:r>
              <a:rPr lang="en-ID" sz="12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  </a:t>
            </a:r>
            <a:r>
              <a:rPr lang="en-ID" sz="12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luas</a:t>
            </a:r>
            <a:r>
              <a:rPr lang="en-ID" sz="12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= p*l;  </a:t>
            </a:r>
          </a:p>
          <a:p>
            <a:r>
              <a:rPr lang="en-ID" sz="12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  </a:t>
            </a:r>
            <a:r>
              <a:rPr lang="en-ID" sz="1200" b="0" i="0" u="none" strike="noStrike" baseline="0" dirty="0" err="1">
                <a:solidFill>
                  <a:srgbClr val="000000"/>
                </a:solidFill>
                <a:latin typeface="Courier New" panose="02070309020205020404" pitchFamily="49" charset="0"/>
              </a:rPr>
              <a:t>luas</a:t>
            </a:r>
            <a:r>
              <a:rPr lang="en-ID" sz="12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 </a:t>
            </a:r>
          </a:p>
          <a:p>
            <a:r>
              <a:rPr lang="en-ID" sz="12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ID" sz="12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otherwise</a:t>
            </a:r>
            <a:r>
              <a:rPr lang="en-ID" sz="12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 </a:t>
            </a:r>
          </a:p>
          <a:p>
            <a:r>
              <a:rPr lang="fi-FI" sz="12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disp(</a:t>
            </a:r>
            <a:r>
              <a:rPr lang="fi-FI" sz="1200" b="0" i="0" u="none" strike="noStrike" baseline="0" dirty="0">
                <a:solidFill>
                  <a:srgbClr val="A020F0"/>
                </a:solidFill>
                <a:latin typeface="Courier New" panose="02070309020205020404" pitchFamily="49" charset="0"/>
              </a:rPr>
              <a:t>'Anda salah memasukkan pilihan'</a:t>
            </a:r>
            <a:r>
              <a:rPr lang="fi-FI" sz="12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);  </a:t>
            </a:r>
          </a:p>
          <a:p>
            <a:r>
              <a:rPr lang="en-ID" sz="1200" b="0" i="0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ID" sz="1200" b="0" i="0" u="none" strike="noStrike" baseline="0" dirty="0">
                <a:solidFill>
                  <a:srgbClr val="0000FF"/>
                </a:solidFill>
                <a:latin typeface="Courier New" panose="02070309020205020404" pitchFamily="49" charset="0"/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134137957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0B2C6-C3D4-4D09-B828-8823C1BC6A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Implementasi</a:t>
            </a:r>
            <a:r>
              <a:rPr lang="en-US" dirty="0"/>
              <a:t> </a:t>
            </a:r>
            <a:r>
              <a:rPr lang="en-US" dirty="0" err="1"/>
              <a:t>Matlab</a:t>
            </a:r>
            <a:r>
              <a:rPr lang="en-US" dirty="0"/>
              <a:t> Plot </a:t>
            </a:r>
            <a:r>
              <a:rPr lang="en-US" dirty="0" err="1"/>
              <a:t>Grafik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8D46F36-97C6-E93D-128A-018C402347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784" y="1972836"/>
            <a:ext cx="7079260" cy="214710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9F16DDD-9038-1DAC-43F2-853D38C3EF5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614" r="3656"/>
          <a:stretch/>
        </p:blipFill>
        <p:spPr>
          <a:xfrm>
            <a:off x="7346022" y="1690688"/>
            <a:ext cx="4654194" cy="3981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994198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3A7B2DC-DD22-4175-0E35-6B5A919850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237" y="956163"/>
            <a:ext cx="4675001" cy="480775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30FAD7B-4F89-ED93-93D2-6709946577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7814" y="1531492"/>
            <a:ext cx="5334000" cy="400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022218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2A291AE-4D41-ED7E-0F4C-4B107DD7C6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9875" y="1289995"/>
            <a:ext cx="6572250" cy="5305425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4574D40A-305C-9D22-E74E-FEDE933046CA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err="1"/>
              <a:t>Implementasi</a:t>
            </a:r>
            <a:r>
              <a:rPr lang="en-US" dirty="0"/>
              <a:t> </a:t>
            </a:r>
            <a:r>
              <a:rPr lang="en-US" dirty="0" err="1"/>
              <a:t>Matlab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Image Retrieval</a:t>
            </a:r>
          </a:p>
        </p:txBody>
      </p:sp>
    </p:spTree>
    <p:extLst>
      <p:ext uri="{BB962C8B-B14F-4D97-AF65-F5344CB8AC3E}">
        <p14:creationId xmlns:p14="http://schemas.microsoft.com/office/powerpoint/2010/main" val="86858709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4574D40A-305C-9D22-E74E-FEDE933046CA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err="1"/>
              <a:t>Implementasi</a:t>
            </a:r>
            <a:r>
              <a:rPr lang="en-US" dirty="0"/>
              <a:t> </a:t>
            </a:r>
            <a:r>
              <a:rPr lang="en-US" dirty="0" err="1"/>
              <a:t>Matlab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Face Recognition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87876F7-E78C-3708-EB61-F9E946ED01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4139" y="1489753"/>
            <a:ext cx="8639424" cy="4859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776376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4574D40A-305C-9D22-E74E-FEDE933046CA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err="1"/>
              <a:t>Implementasi</a:t>
            </a:r>
            <a:r>
              <a:rPr lang="en-US" dirty="0"/>
              <a:t> </a:t>
            </a:r>
            <a:r>
              <a:rPr lang="en-US" dirty="0" err="1"/>
              <a:t>Matlab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Peningkatan</a:t>
            </a:r>
            <a:r>
              <a:rPr lang="en-US" dirty="0"/>
              <a:t> </a:t>
            </a:r>
            <a:r>
              <a:rPr lang="en-US" dirty="0" err="1"/>
              <a:t>Kualitas</a:t>
            </a:r>
            <a:r>
              <a:rPr lang="en-US" dirty="0"/>
              <a:t> Gambar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7B61280-2EBE-1E4E-EC7C-F3BCF3CBF0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6733" y="1880171"/>
            <a:ext cx="8849474" cy="4977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408746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0777F521-A2D3-FDB5-5D53-20475C3D78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3760" y="1351248"/>
            <a:ext cx="6400372" cy="46792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58945EC-ADDE-B9EC-2966-CDC2E1705F7F}"/>
              </a:ext>
            </a:extLst>
          </p:cNvPr>
          <p:cNvSpPr txBox="1">
            <a:spLocks/>
          </p:cNvSpPr>
          <p:nvPr/>
        </p:nvSpPr>
        <p:spPr>
          <a:xfrm>
            <a:off x="571072" y="261991"/>
            <a:ext cx="10515600" cy="86816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err="1"/>
              <a:t>Implementasi</a:t>
            </a:r>
            <a:r>
              <a:rPr lang="en-US" dirty="0"/>
              <a:t> </a:t>
            </a:r>
            <a:r>
              <a:rPr lang="en-US" dirty="0" err="1"/>
              <a:t>Matlab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Segmentasi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759599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8945EC-ADDE-B9EC-2966-CDC2E1705F7F}"/>
              </a:ext>
            </a:extLst>
          </p:cNvPr>
          <p:cNvSpPr txBox="1">
            <a:spLocks/>
          </p:cNvSpPr>
          <p:nvPr/>
        </p:nvSpPr>
        <p:spPr>
          <a:xfrm>
            <a:off x="571072" y="261991"/>
            <a:ext cx="10515600" cy="86816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err="1"/>
              <a:t>Implementasi</a:t>
            </a:r>
            <a:r>
              <a:rPr lang="en-US" dirty="0"/>
              <a:t> </a:t>
            </a:r>
            <a:r>
              <a:rPr lang="en-US" dirty="0" err="1"/>
              <a:t>Matlab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Deteksi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2BB368B-7E62-A922-3E09-81F279B7BC5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8015"/>
          <a:stretch/>
        </p:blipFill>
        <p:spPr>
          <a:xfrm>
            <a:off x="571072" y="1130158"/>
            <a:ext cx="10385041" cy="5373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677758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F27C747-6E4C-6F1F-07AF-46A6F395A9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678" y="1821951"/>
            <a:ext cx="4230282" cy="236990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3DAD6E0-AEA6-E65D-1AE2-02CE2E801E84}"/>
              </a:ext>
            </a:extLst>
          </p:cNvPr>
          <p:cNvSpPr txBox="1"/>
          <p:nvPr/>
        </p:nvSpPr>
        <p:spPr>
          <a:xfrm>
            <a:off x="706349" y="4962686"/>
            <a:ext cx="60977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dirty="0"/>
              <a:t>https://www.youtube.com/watch?v=inN8seMm7UI</a:t>
            </a:r>
          </a:p>
        </p:txBody>
      </p:sp>
    </p:spTree>
    <p:extLst>
      <p:ext uri="{BB962C8B-B14F-4D97-AF65-F5344CB8AC3E}">
        <p14:creationId xmlns:p14="http://schemas.microsoft.com/office/powerpoint/2010/main" val="343246897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281F10-E903-A85B-55E6-0C4604DE96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Tugas</a:t>
            </a:r>
            <a:r>
              <a:rPr lang="en-US" dirty="0"/>
              <a:t> 1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34C5A5-4D22-26C1-845B-F3E56D138B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D" b="1" i="0" dirty="0">
                <a:solidFill>
                  <a:srgbClr val="4D4D4D"/>
                </a:solidFill>
                <a:effectLst/>
                <a:latin typeface="PT Sans" panose="020B0503020203020204" pitchFamily="34" charset="0"/>
              </a:rPr>
              <a:t>Buat </a:t>
            </a:r>
            <a:r>
              <a:rPr lang="en-ID" b="1" i="0" dirty="0" err="1">
                <a:solidFill>
                  <a:srgbClr val="4D4D4D"/>
                </a:solidFill>
                <a:effectLst/>
                <a:latin typeface="PT Sans" panose="020B0503020203020204" pitchFamily="34" charset="0"/>
              </a:rPr>
              <a:t>penjelasan</a:t>
            </a:r>
            <a:r>
              <a:rPr lang="en-ID" b="1" i="0" dirty="0">
                <a:solidFill>
                  <a:srgbClr val="4D4D4D"/>
                </a:solidFill>
                <a:effectLst/>
                <a:latin typeface="PT Sans" panose="020B0503020203020204" pitchFamily="34" charset="0"/>
              </a:rPr>
              <a:t> </a:t>
            </a:r>
            <a:r>
              <a:rPr lang="en-ID" b="1" i="0" dirty="0" err="1">
                <a:solidFill>
                  <a:srgbClr val="4D4D4D"/>
                </a:solidFill>
                <a:effectLst/>
                <a:latin typeface="PT Sans" panose="020B0503020203020204" pitchFamily="34" charset="0"/>
              </a:rPr>
              <a:t>tentang</a:t>
            </a:r>
            <a:r>
              <a:rPr lang="en-ID" b="1" i="0" dirty="0">
                <a:solidFill>
                  <a:srgbClr val="4D4D4D"/>
                </a:solidFill>
                <a:effectLst/>
                <a:latin typeface="PT Sans" panose="020B0503020203020204" pitchFamily="34" charset="0"/>
              </a:rPr>
              <a:t> Jenis-</a:t>
            </a:r>
            <a:r>
              <a:rPr lang="en-ID" b="1" i="0" dirty="0" err="1">
                <a:solidFill>
                  <a:srgbClr val="4D4D4D"/>
                </a:solidFill>
                <a:effectLst/>
                <a:latin typeface="PT Sans" panose="020B0503020203020204" pitchFamily="34" charset="0"/>
              </a:rPr>
              <a:t>jenis</a:t>
            </a:r>
            <a:r>
              <a:rPr lang="en-ID" b="1" i="0" dirty="0">
                <a:solidFill>
                  <a:srgbClr val="4D4D4D"/>
                </a:solidFill>
                <a:effectLst/>
                <a:latin typeface="PT Sans" panose="020B0503020203020204" pitchFamily="34" charset="0"/>
              </a:rPr>
              <a:t> </a:t>
            </a:r>
            <a:r>
              <a:rPr lang="en-ID" b="1" i="0" dirty="0" err="1">
                <a:solidFill>
                  <a:srgbClr val="4D4D4D"/>
                </a:solidFill>
                <a:effectLst/>
                <a:latin typeface="PT Sans" panose="020B0503020203020204" pitchFamily="34" charset="0"/>
              </a:rPr>
              <a:t>Algoritma</a:t>
            </a:r>
            <a:r>
              <a:rPr lang="en-ID" b="1" i="0" dirty="0">
                <a:solidFill>
                  <a:srgbClr val="4D4D4D"/>
                </a:solidFill>
                <a:effectLst/>
                <a:latin typeface="PT Sans" panose="020B0503020203020204" pitchFamily="34" charset="0"/>
              </a:rPr>
              <a:t> </a:t>
            </a:r>
            <a:r>
              <a:rPr lang="en-ID" b="1" i="0" dirty="0" err="1">
                <a:solidFill>
                  <a:srgbClr val="4D4D4D"/>
                </a:solidFill>
                <a:effectLst/>
                <a:latin typeface="PT Sans" panose="020B0503020203020204" pitchFamily="34" charset="0"/>
              </a:rPr>
              <a:t>Pemrograman</a:t>
            </a:r>
            <a:r>
              <a:rPr lang="en-ID" b="1" i="0" dirty="0">
                <a:solidFill>
                  <a:srgbClr val="4D4D4D"/>
                </a:solidFill>
                <a:effectLst/>
                <a:latin typeface="PT Sans" panose="020B0503020203020204" pitchFamily="34" charset="0"/>
              </a:rPr>
              <a:t> (</a:t>
            </a:r>
            <a:r>
              <a:rPr lang="en-ID" b="1" i="0" dirty="0" err="1">
                <a:solidFill>
                  <a:srgbClr val="4D4D4D"/>
                </a:solidFill>
                <a:effectLst/>
                <a:latin typeface="PT Sans" panose="020B0503020203020204" pitchFamily="34" charset="0"/>
              </a:rPr>
              <a:t>gambar</a:t>
            </a:r>
            <a:r>
              <a:rPr lang="en-ID" b="1" i="0" dirty="0">
                <a:solidFill>
                  <a:srgbClr val="4D4D4D"/>
                </a:solidFill>
                <a:effectLst/>
                <a:latin typeface="PT Sans" panose="020B0503020203020204" pitchFamily="34" charset="0"/>
              </a:rPr>
              <a:t>/</a:t>
            </a:r>
            <a:r>
              <a:rPr lang="en-ID" b="1" i="0" dirty="0" err="1">
                <a:solidFill>
                  <a:srgbClr val="4D4D4D"/>
                </a:solidFill>
                <a:effectLst/>
                <a:latin typeface="PT Sans" panose="020B0503020203020204" pitchFamily="34" charset="0"/>
              </a:rPr>
              <a:t>animasi</a:t>
            </a:r>
            <a:r>
              <a:rPr lang="en-ID" b="1" i="0" dirty="0">
                <a:solidFill>
                  <a:srgbClr val="4D4D4D"/>
                </a:solidFill>
                <a:effectLst/>
                <a:latin typeface="PT Sans" panose="020B0503020203020204" pitchFamily="34" charset="0"/>
              </a:rPr>
              <a:t>/video/file ppt/doc) dan </a:t>
            </a:r>
            <a:r>
              <a:rPr lang="en-ID" b="1" i="0" dirty="0" err="1">
                <a:solidFill>
                  <a:srgbClr val="4D4D4D"/>
                </a:solidFill>
                <a:effectLst/>
                <a:latin typeface="PT Sans" panose="020B0503020203020204" pitchFamily="34" charset="0"/>
              </a:rPr>
              <a:t>contoh</a:t>
            </a:r>
            <a:r>
              <a:rPr lang="en-ID" b="1" i="0" dirty="0">
                <a:solidFill>
                  <a:srgbClr val="4D4D4D"/>
                </a:solidFill>
                <a:effectLst/>
                <a:latin typeface="PT Sans" panose="020B0503020203020204" pitchFamily="34" charset="0"/>
              </a:rPr>
              <a:t> </a:t>
            </a:r>
            <a:r>
              <a:rPr lang="en-ID" b="1" i="0" dirty="0" err="1">
                <a:solidFill>
                  <a:srgbClr val="4D4D4D"/>
                </a:solidFill>
                <a:effectLst/>
                <a:latin typeface="PT Sans" panose="020B0503020203020204" pitchFamily="34" charset="0"/>
              </a:rPr>
              <a:t>implementasi</a:t>
            </a:r>
            <a:r>
              <a:rPr lang="en-ID" b="1" i="0" dirty="0">
                <a:solidFill>
                  <a:srgbClr val="4D4D4D"/>
                </a:solidFill>
                <a:effectLst/>
                <a:latin typeface="PT Sans" panose="020B0503020203020204" pitchFamily="34" charset="0"/>
              </a:rPr>
              <a:t> </a:t>
            </a:r>
            <a:r>
              <a:rPr lang="en-ID" b="1" i="0" dirty="0" err="1">
                <a:solidFill>
                  <a:srgbClr val="4D4D4D"/>
                </a:solidFill>
                <a:effectLst/>
                <a:latin typeface="PT Sans" panose="020B0503020203020204" pitchFamily="34" charset="0"/>
              </a:rPr>
              <a:t>dimana</a:t>
            </a:r>
            <a:r>
              <a:rPr lang="en-ID" b="1" i="0" dirty="0">
                <a:solidFill>
                  <a:srgbClr val="4D4D4D"/>
                </a:solidFill>
                <a:effectLst/>
                <a:latin typeface="PT Sans" panose="020B0503020203020204" pitchFamily="34" charset="0"/>
              </a:rPr>
              <a:t> </a:t>
            </a:r>
            <a:r>
              <a:rPr lang="en-ID" b="1" i="0" dirty="0" err="1">
                <a:solidFill>
                  <a:srgbClr val="4D4D4D"/>
                </a:solidFill>
                <a:effectLst/>
                <a:latin typeface="PT Sans" panose="020B0503020203020204" pitchFamily="34" charset="0"/>
              </a:rPr>
              <a:t>saja</a:t>
            </a:r>
            <a:endParaRPr lang="en-ID" b="1" i="0" dirty="0">
              <a:solidFill>
                <a:srgbClr val="4D4D4D"/>
              </a:solidFill>
              <a:effectLst/>
              <a:latin typeface="PT Sans" panose="020B0503020203020204" pitchFamily="34" charset="0"/>
            </a:endParaRPr>
          </a:p>
          <a:p>
            <a:r>
              <a:rPr lang="en-ID" b="1" dirty="0">
                <a:solidFill>
                  <a:srgbClr val="4D4D4D"/>
                </a:solidFill>
                <a:latin typeface="PT Sans" panose="020B0503020203020204" pitchFamily="34" charset="0"/>
              </a:rPr>
              <a:t>File di </a:t>
            </a:r>
            <a:r>
              <a:rPr lang="en-ID" b="1" dirty="0" err="1">
                <a:solidFill>
                  <a:srgbClr val="4D4D4D"/>
                </a:solidFill>
                <a:latin typeface="PT Sans" panose="020B0503020203020204" pitchFamily="34" charset="0"/>
              </a:rPr>
              <a:t>kumpulkan</a:t>
            </a:r>
            <a:r>
              <a:rPr lang="en-ID" b="1" dirty="0">
                <a:solidFill>
                  <a:srgbClr val="4D4D4D"/>
                </a:solidFill>
                <a:latin typeface="PT Sans" panose="020B0503020203020204" pitchFamily="34" charset="0"/>
              </a:rPr>
              <a:t> via </a:t>
            </a:r>
            <a:r>
              <a:rPr lang="en-ID" b="1" dirty="0" err="1">
                <a:solidFill>
                  <a:srgbClr val="4D4D4D"/>
                </a:solidFill>
                <a:latin typeface="PT Sans" panose="020B0503020203020204" pitchFamily="34" charset="0"/>
              </a:rPr>
              <a:t>gdrive</a:t>
            </a:r>
            <a:r>
              <a:rPr lang="en-ID" b="1" dirty="0">
                <a:solidFill>
                  <a:srgbClr val="4D4D4D"/>
                </a:solidFill>
                <a:latin typeface="PT Sans" panose="020B0503020203020204" pitchFamily="34" charset="0"/>
              </a:rPr>
              <a:t> deadline </a:t>
            </a:r>
            <a:r>
              <a:rPr lang="en-ID" b="1" dirty="0" err="1">
                <a:solidFill>
                  <a:srgbClr val="4D4D4D"/>
                </a:solidFill>
                <a:latin typeface="PT Sans" panose="020B0503020203020204" pitchFamily="34" charset="0"/>
              </a:rPr>
              <a:t>minggu</a:t>
            </a:r>
            <a:r>
              <a:rPr lang="en-ID" b="1" dirty="0">
                <a:solidFill>
                  <a:srgbClr val="4D4D4D"/>
                </a:solidFill>
                <a:latin typeface="PT Sans" panose="020B0503020203020204" pitchFamily="34" charset="0"/>
              </a:rPr>
              <a:t> 22 </a:t>
            </a:r>
            <a:r>
              <a:rPr lang="en-ID" b="1" dirty="0" err="1">
                <a:solidFill>
                  <a:srgbClr val="4D4D4D"/>
                </a:solidFill>
                <a:latin typeface="PT Sans" panose="020B0503020203020204" pitchFamily="34" charset="0"/>
              </a:rPr>
              <a:t>februari</a:t>
            </a:r>
            <a:r>
              <a:rPr lang="en-ID" b="1" dirty="0">
                <a:solidFill>
                  <a:srgbClr val="4D4D4D"/>
                </a:solidFill>
                <a:latin typeface="PT Sans" panose="020B0503020203020204" pitchFamily="34" charset="0"/>
              </a:rPr>
              <a:t> : jam 23.59</a:t>
            </a:r>
          </a:p>
          <a:p>
            <a:endParaRPr lang="en-ID" b="1" dirty="0">
              <a:solidFill>
                <a:srgbClr val="4D4D4D"/>
              </a:solidFill>
              <a:latin typeface="PT Sans" panose="020B0503020203020204" pitchFamily="34" charset="0"/>
            </a:endParaRPr>
          </a:p>
          <a:p>
            <a:pPr marL="0" indent="0">
              <a:buNone/>
            </a:pPr>
            <a:endParaRPr lang="en-ID" b="1" i="0" dirty="0">
              <a:solidFill>
                <a:srgbClr val="4D4D4D"/>
              </a:solidFill>
              <a:effectLst/>
              <a:latin typeface="PT Sans" panose="020B05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3887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1BA49E-2AF8-418B-AB27-470E244F9C6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2259830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784</TotalTime>
  <Words>571</Words>
  <Application>Microsoft Office PowerPoint</Application>
  <PresentationFormat>Widescreen</PresentationFormat>
  <Paragraphs>80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4" baseType="lpstr">
      <vt:lpstr>Arial</vt:lpstr>
      <vt:lpstr>Calibri</vt:lpstr>
      <vt:lpstr>Calibri Light</vt:lpstr>
      <vt:lpstr>Courier New</vt:lpstr>
      <vt:lpstr>Gill Sans Ultra Bold</vt:lpstr>
      <vt:lpstr>Helvetica Neue</vt:lpstr>
      <vt:lpstr>PT Sans</vt:lpstr>
      <vt:lpstr>Roboto</vt:lpstr>
      <vt:lpstr>Wingdings</vt:lpstr>
      <vt:lpstr>Office Theme</vt:lpstr>
      <vt:lpstr>PowerPoint Presentation</vt:lpstr>
      <vt:lpstr>OUTLINE</vt:lpstr>
      <vt:lpstr>PowerPoint Presentation</vt:lpstr>
      <vt:lpstr>PowerPoint Presentation</vt:lpstr>
      <vt:lpstr>PowerPoint Presentation</vt:lpstr>
      <vt:lpstr>PowerPoint Presentation</vt:lpstr>
      <vt:lpstr>Contoh Flowchart</vt:lpstr>
      <vt:lpstr>PowerPoint Presentation</vt:lpstr>
      <vt:lpstr>CONTOH</vt:lpstr>
      <vt:lpstr>PowerPoint Presentation</vt:lpstr>
      <vt:lpstr>PowerPoint Presentation</vt:lpstr>
      <vt:lpstr>PowerPoint Presentation</vt:lpstr>
      <vt:lpstr>PowerPoint Presentation</vt:lpstr>
      <vt:lpstr>Software Simulasi</vt:lpstr>
      <vt:lpstr>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CONTOH </vt:lpstr>
      <vt:lpstr>Implementasi Matlab menghitung luas bangun: coding</vt:lpstr>
      <vt:lpstr>PowerPoint Presentation</vt:lpstr>
      <vt:lpstr>Implementasi Matlab Plot Grafik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Tugas 1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KULIAH 10 KONSEP ALGORITMA PEMOGRAMAN</dc:title>
  <dc:creator>oktiana maulisa</dc:creator>
  <cp:lastModifiedBy>Lenovo Ideapad Flex 5</cp:lastModifiedBy>
  <cp:revision>61</cp:revision>
  <dcterms:created xsi:type="dcterms:W3CDTF">2021-11-04T03:45:01Z</dcterms:created>
  <dcterms:modified xsi:type="dcterms:W3CDTF">2026-02-21T02:55:47Z</dcterms:modified>
</cp:coreProperties>
</file>