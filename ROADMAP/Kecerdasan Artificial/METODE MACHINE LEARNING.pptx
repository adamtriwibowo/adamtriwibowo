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CFBCA-4BF0-F1F3-938F-C144E076E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84ED8-13C4-2468-5C27-5F70D2EFF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B3F70-E79C-600C-C594-050A78BE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88646-1B9C-F753-09C1-167EFCEB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B7BA4-BC73-0FEB-F200-296E7F53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0786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E7A8-768D-DDF5-AB87-DE78C31E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31C29-033D-057D-AA57-46F960E04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AA290-B3C3-7D61-EF2A-43C316CA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B7AE-2A0C-735D-C596-AC9FB5E9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797C0-31DD-B4AD-8C09-655AD4E3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3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2187-1A47-739B-DD40-C7B32F3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DD23F-E6F6-FE25-8040-5DD790E9A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B7EAD-EF2E-6C6F-45A9-59B6C4D45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9C603-D519-EA65-3369-DF235A15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30E5C-9944-838E-41D0-E3A8793C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2857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1E7D-BC8F-2BF1-3524-165D372B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3E34D-1433-A9E0-9EF6-78970843D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EB437-9A72-65EA-437B-8B4891693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5647D-1473-EFCD-11B0-BEDD8AE0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8216E-B2DD-D00A-1FA0-C1C7603C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9DBFC-A4B6-8692-3B96-B422C9BC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338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BC21-CCA6-3ABC-2711-2027F612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377A0-90B8-B377-32FE-9DE8CE5D4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632F5-430C-2149-A418-FEDF57FBA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933AD-B296-EE22-D2A0-8A4E3076D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5192A-7A3A-7A12-55E4-E035C1D5C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C7299B-ABC3-C9C9-3F03-C56347C4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FE9D2-64DF-B598-5537-679CF8F11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29603-5D62-1A56-9E24-2AE5A2AD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419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CC76-749B-7E4B-AC56-A8518362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ABFFE-94AC-DA6C-07B8-C02DBD21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92915-44CF-9267-79AF-F13E8788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81FED-6091-3196-C816-BF8BFCE4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217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D2F6B-4F0C-F552-619F-F05346A8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94A17-46D2-9052-3C47-47DE26E2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B1F7B-FF18-72AB-8BAB-80225F6C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749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F675-957E-3268-DBAD-EB60A740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F545-5216-4DBA-EAE3-DD8278909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BB4B2-ADC7-6723-7BC8-8A2ED031E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6A9CE-ED0E-1AE8-B299-85587C6A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FF65E-05A3-D97D-33CA-5C532583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F7798-00DE-BF92-C1BF-71439C48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179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9B35-529E-6382-B61D-8830D1039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C0CC7-B2E5-E965-70A5-D6D4DF050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3475A-BAB8-7BC4-0BB8-4561CF0F3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EF008-DD56-30DB-2139-D383577D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EA301-D2C0-7953-2E9E-2E55261F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753EC-D5ED-CF9D-E7B8-5C60908A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1081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6681-4F22-B197-5B9E-6FCB2CDF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2A654-6002-EF7C-C926-D27C29B68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9B11-C1DB-FD0B-A29F-8342DDBA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7AE25-A75A-443E-D1BF-33C6C989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4F6C1-AACC-DEEE-105F-22C4E9DE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387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D2DE2F-0528-AA8D-861D-EF250308F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BE573-0924-F0B6-FDB8-850AE3514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29A5D-1F07-42CF-0363-53709EA2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BEC65-C242-B0B4-78EA-12E9DFAE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11F98-2039-2E98-15D3-72D823B9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677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8D836-D201-6E9F-EBA7-1F7186251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A3E98-997E-5FA5-6435-04303AB11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E3AA7-6E05-AA44-CD1E-94D71CBE8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BCA49-A168-4AE8-AE05-67E1DC0C4270}" type="datetimeFigureOut">
              <a:rPr lang="id-ID" smtClean="0"/>
              <a:t>18/02/2026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C69C-38B6-DE84-1D01-B89AD2076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4FE37-81C3-BE8E-84DE-2B12CF4C4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68C65-7AB4-4639-8836-74C5D2179F0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219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876E-F2FD-7529-9F67-374AD7BEF2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METODE MACHINE LEARNING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58D6F-D1A8-4243-7FDB-5426B0F85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STATISTIKA DAN REGRESI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0731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BAD7-8147-91E6-6200-AF3556E0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Apa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id-ID" b="1" dirty="0"/>
              <a:t>Machine Learning</a:t>
            </a:r>
            <a:r>
              <a:rPr lang="en-US" b="1" dirty="0"/>
              <a:t>?	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3CC7E-5322-9B8E-BBCF-61BB38C89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80845"/>
          </a:xfrm>
        </p:spPr>
        <p:txBody>
          <a:bodyPr/>
          <a:lstStyle/>
          <a:p>
            <a:pPr algn="just"/>
            <a:r>
              <a:rPr lang="id-ID" dirty="0"/>
              <a:t>Machine Learning (ML) adalah cabang dari kecerdasan buatan (AI) yang memungkinkan sistem belajar dari data dan membuat keputusan atau prediksi tanpa diprogram secara eksplisit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FD955-1F39-71D3-1599-EAC40F500EAB}"/>
              </a:ext>
            </a:extLst>
          </p:cNvPr>
          <p:cNvSpPr txBox="1"/>
          <p:nvPr/>
        </p:nvSpPr>
        <p:spPr>
          <a:xfrm>
            <a:off x="1066192" y="3429000"/>
            <a:ext cx="10287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Membantu untuk menemukan pola, menganalisis data, dan membuat prediksi berdasarkan data yang ada.</a:t>
            </a:r>
          </a:p>
        </p:txBody>
      </p:sp>
    </p:spTree>
    <p:extLst>
      <p:ext uri="{BB962C8B-B14F-4D97-AF65-F5344CB8AC3E}">
        <p14:creationId xmlns:p14="http://schemas.microsoft.com/office/powerpoint/2010/main" val="201063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EA7F-158A-35BE-8596-770FFD54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Machine Learning vs Statistik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427DB-2697-9B00-2018-738250C88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Statistik</a:t>
            </a:r>
            <a:r>
              <a:rPr lang="id-ID" dirty="0"/>
              <a:t>: Menggunakan model matematika untuk menguji hipotesis dan menganalisis data.</a:t>
            </a:r>
          </a:p>
          <a:p>
            <a:r>
              <a:rPr lang="id-ID" b="1" dirty="0"/>
              <a:t>Machine Learning</a:t>
            </a:r>
            <a:r>
              <a:rPr lang="id-ID" dirty="0"/>
              <a:t>: Menggunakan algoritma untuk mempelajari pola dan membuat prediksi secara otomatis tanpa perlu pengujian hipotesis formal.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3621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7F8B-4B22-DFC0-82EC-833D6E8F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Jenis-Jenis Pembelajaran dalam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EA726-CF82-5A6F-C489-90D9ECFEC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b="1" dirty="0"/>
              <a:t>Supervised Learning (Pembelajaran Terawasi)</a:t>
            </a:r>
            <a:endParaRPr lang="en-US" b="1" dirty="0"/>
          </a:p>
          <a:p>
            <a:pPr marL="0" indent="0">
              <a:buNone/>
            </a:pPr>
            <a:r>
              <a:rPr lang="id-ID" b="1" dirty="0"/>
              <a:t>Definisi</a:t>
            </a:r>
            <a:r>
              <a:rPr lang="id-ID" dirty="0"/>
              <a:t>: Model dilatih menggunakan data berlabel, di mana output yang benar sudah diketahui.</a:t>
            </a:r>
          </a:p>
          <a:p>
            <a:pPr marL="0" indent="0">
              <a:buNone/>
            </a:pPr>
            <a:r>
              <a:rPr lang="id-ID" b="1" dirty="0"/>
              <a:t>Contoh</a:t>
            </a:r>
            <a:r>
              <a:rPr lang="id-ID" dirty="0"/>
              <a:t>: Regresi, Klasifikasi (misalnya, prediksi harga rumah atau diagnosis penyakit).</a:t>
            </a:r>
          </a:p>
          <a:p>
            <a:r>
              <a:rPr lang="id-ID" b="1" dirty="0"/>
              <a:t>Unsupervised Learning (Pembelajaran Tidak Terawasi)</a:t>
            </a:r>
          </a:p>
          <a:p>
            <a:pPr marL="0" indent="0">
              <a:buNone/>
            </a:pPr>
            <a:r>
              <a:rPr lang="id-ID" b="1" dirty="0"/>
              <a:t>Definisi</a:t>
            </a:r>
            <a:r>
              <a:rPr lang="id-ID" dirty="0"/>
              <a:t>: Model bekerja dengan data yang tidak berlabel dan mencoba menemukan pola atau struktur dalam data.</a:t>
            </a:r>
            <a:endParaRPr lang="en-US" dirty="0"/>
          </a:p>
          <a:p>
            <a:pPr marL="0" indent="0">
              <a:buNone/>
            </a:pPr>
            <a:r>
              <a:rPr lang="id-ID" b="1" dirty="0"/>
              <a:t>Contoh</a:t>
            </a:r>
            <a:r>
              <a:rPr lang="id-ID" dirty="0"/>
              <a:t>: Clustering (misalnya, segmentasi pasar), Dimensionality Reduction (misalnya, PCA).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0023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0394-0BCE-E021-EDDF-6C798D8D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653B-85F8-5B0D-F599-9B0394288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Reinforcement Learning (Pembelajaran Penguatan)</a:t>
            </a:r>
          </a:p>
          <a:p>
            <a:r>
              <a:rPr lang="id-ID" b="1" dirty="0"/>
              <a:t>Definisi</a:t>
            </a:r>
            <a:r>
              <a:rPr lang="id-ID" dirty="0"/>
              <a:t>: Model belajar dari interaksi dengan lingkungan, mendapatkan umpan balik berupa penghargaan atau hukuman untuk setiap tindakan.</a:t>
            </a:r>
          </a:p>
          <a:p>
            <a:r>
              <a:rPr lang="id-ID" b="1" dirty="0"/>
              <a:t>Contoh</a:t>
            </a:r>
            <a:r>
              <a:rPr lang="id-ID" dirty="0"/>
              <a:t>: Game AI, kendaraan otonom.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8221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AB43-0FAC-0594-3E5A-6D4569FC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Regresi dalam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1BBB-AD87-BA11-3E6F-F294B2987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Pengertian Regresi</a:t>
            </a:r>
          </a:p>
          <a:p>
            <a:r>
              <a:rPr lang="id-ID" b="1" dirty="0"/>
              <a:t>Definisi</a:t>
            </a:r>
            <a:r>
              <a:rPr lang="id-ID" dirty="0"/>
              <a:t>: Metode untuk memprediksi nilai kontinu (misalnya, harga, suhu) berdasarkan data input.</a:t>
            </a:r>
          </a:p>
          <a:p>
            <a:r>
              <a:rPr lang="id-ID" b="1" dirty="0"/>
              <a:t>Contoh</a:t>
            </a:r>
            <a:r>
              <a:rPr lang="id-ID" dirty="0"/>
              <a:t>: Memprediksi harga rumah berdasarkan luas tanah.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05062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C7CD-EDDF-BA9E-A4CD-25F3220B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71FA2-9BAA-2CF2-FD71-99BC970EE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d-ID" b="1" dirty="0"/>
                  <a:t>Regresi Linear Sederhana</a:t>
                </a:r>
              </a:p>
              <a:p>
                <a:r>
                  <a:rPr lang="id-ID" b="1" dirty="0"/>
                  <a:t>Definisi</a:t>
                </a:r>
                <a:r>
                  <a:rPr lang="id-ID" dirty="0"/>
                  <a:t>: Model yang menggambarkan hubungan linear antara variabel dependen (Y) dan variabel independen (X).</a:t>
                </a:r>
              </a:p>
              <a:p>
                <a:r>
                  <a:rPr lang="id-ID" b="1" dirty="0"/>
                  <a:t>Rumus</a:t>
                </a:r>
                <a:r>
                  <a:rPr lang="id-ID" dirty="0"/>
                  <a:t>: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id-ID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id-ID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𝑏𝑋</m:t>
                    </m:r>
                  </m:oMath>
                </a14:m>
                <a:endParaRPr lang="id-ID" dirty="0"/>
              </a:p>
              <a:p>
                <a:r>
                  <a:rPr lang="id-ID" b="1" dirty="0"/>
                  <a:t>Contoh</a:t>
                </a:r>
                <a:r>
                  <a:rPr lang="id-ID" dirty="0"/>
                  <a:t>: Memprediksi harga rumah berdasarkan luas tanah.</a:t>
                </a:r>
              </a:p>
              <a:p>
                <a:endParaRPr lang="id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71FA2-9BAA-2CF2-FD71-99BC970EE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59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CA02-C415-1B67-A62D-8AFFE733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D9B1D-41B7-9C53-0CD2-0B1C846DD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d-ID" b="1" dirty="0"/>
                  <a:t>Regresi Linear Berganda</a:t>
                </a:r>
              </a:p>
              <a:p>
                <a:r>
                  <a:rPr lang="id-ID" b="1" dirty="0"/>
                  <a:t>Definisi</a:t>
                </a:r>
                <a:r>
                  <a:rPr lang="id-ID" dirty="0"/>
                  <a:t>: Memperluas regresi linear sederhana dengan lebih dari satu variabel independen.</a:t>
                </a:r>
              </a:p>
              <a:p>
                <a:r>
                  <a:rPr lang="id-ID" b="1" dirty="0"/>
                  <a:t>Rumus</a:t>
                </a:r>
                <a:r>
                  <a:rPr lang="id-ID" dirty="0"/>
                  <a:t>: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id-ID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id-ID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+...+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id-ID" b="1" dirty="0"/>
                  <a:t>Contoh</a:t>
                </a:r>
                <a:r>
                  <a:rPr lang="id-ID" dirty="0"/>
                  <a:t>: Memprediksi harga rumah dengan berbagai faktor seperti lokasi, jumlah kamar, dan ukuran tanah.</a:t>
                </a:r>
              </a:p>
              <a:p>
                <a:endParaRPr lang="id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D9B1D-41B7-9C53-0CD2-0B1C846DD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71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6FAF-53BF-5B69-CC5F-0DFB7893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B4D93-E291-6432-EE20-B1C49616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MSE (Mean Squared Error)</a:t>
            </a:r>
            <a:r>
              <a:rPr lang="id-ID" dirty="0"/>
              <a:t>: Mengukur seberapa besar kesalahan antara prediksi dan nilai nyata.</a:t>
            </a:r>
          </a:p>
          <a:p>
            <a:r>
              <a:rPr lang="id-ID" b="1" dirty="0"/>
              <a:t>R-squared</a:t>
            </a:r>
            <a:r>
              <a:rPr lang="id-ID" dirty="0"/>
              <a:t>: Menunjukkan seberapa baik model menjelaskan variabilitas data.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5208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1D94-6DF1-9A75-9940-5698F25B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F042E-F161-8B34-6240-651945051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Regresi Logistik</a:t>
            </a:r>
          </a:p>
          <a:p>
            <a:r>
              <a:rPr lang="id-ID" b="1" dirty="0"/>
              <a:t>Definisi</a:t>
            </a:r>
            <a:r>
              <a:rPr lang="id-ID" dirty="0"/>
              <a:t>: Digunakan untuk masalah klasifikasi dengan dua kategori (misalnya, "ya" atau "tidak").</a:t>
            </a:r>
          </a:p>
          <a:p>
            <a:r>
              <a:rPr lang="id-ID" b="1" dirty="0"/>
              <a:t>Contoh</a:t>
            </a:r>
            <a:r>
              <a:rPr lang="id-ID" dirty="0"/>
              <a:t>: Prediksi apakah pelanggan akan membeli produk berdasarkan beberapa fitur.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24822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F079-C732-46B8-E713-F9D32EC8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07CF-0D53-B500-F9AE-6A4AD9FA4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Regresi Ridge dan Lasso</a:t>
            </a:r>
          </a:p>
          <a:p>
            <a:r>
              <a:rPr lang="id-ID" b="1" dirty="0"/>
              <a:t>Ridge Regression</a:t>
            </a:r>
            <a:r>
              <a:rPr lang="id-ID" dirty="0"/>
              <a:t>: Regularisasi dengan menambahkan penalti untuk besar koefisien model.</a:t>
            </a:r>
          </a:p>
          <a:p>
            <a:r>
              <a:rPr lang="id-ID" b="1" dirty="0"/>
              <a:t>Lasso Regression</a:t>
            </a:r>
            <a:r>
              <a:rPr lang="id-ID" dirty="0"/>
              <a:t>: Seperti ridge, tetapi penalti lebih kuat, bahkan dapat menghapus beberapa koefisien.</a:t>
            </a:r>
          </a:p>
          <a:p>
            <a:r>
              <a:rPr lang="id-ID" b="1" dirty="0"/>
              <a:t>Tujuan</a:t>
            </a:r>
            <a:r>
              <a:rPr lang="id-ID" dirty="0"/>
              <a:t>: Mencegah overfitting dan memperbaiki generalisasi model.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42108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B376-4970-4A33-B117-CE272003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3D09D-D041-D039-13A1-0E96BC24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Support Vector Regression (SVR)</a:t>
            </a:r>
          </a:p>
          <a:p>
            <a:r>
              <a:rPr lang="id-ID" b="1" dirty="0"/>
              <a:t>Definisi</a:t>
            </a:r>
            <a:r>
              <a:rPr lang="id-ID" dirty="0"/>
              <a:t>: Menggunakan prinsip SVM untuk regresi, sangat efektif untuk data yang non-linear.</a:t>
            </a:r>
          </a:p>
          <a:p>
            <a:r>
              <a:rPr lang="id-ID" b="1" dirty="0"/>
              <a:t>Contoh</a:t>
            </a:r>
            <a:r>
              <a:rPr lang="id-ID" dirty="0"/>
              <a:t>: Prediksi harga saham atau harga barang.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7066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087-E8DC-3183-2625-15B61983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Model-Model Machine Learning Statistik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E2BA5-6326-43F5-A584-1C04D787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</a:t>
            </a:r>
            <a:r>
              <a:rPr lang="id-ID" b="1" dirty="0"/>
              <a:t>ohon Keputusan (Decision Trees)</a:t>
            </a:r>
          </a:p>
          <a:p>
            <a:r>
              <a:rPr lang="id-ID" b="1" dirty="0"/>
              <a:t>Definisi</a:t>
            </a:r>
            <a:r>
              <a:rPr lang="id-ID" dirty="0"/>
              <a:t>: Model yang membagi data menjadi cabang-cabang berdasarkan fitur untuk membuat keputusan.</a:t>
            </a:r>
          </a:p>
          <a:p>
            <a:r>
              <a:rPr lang="id-ID" b="1" dirty="0"/>
              <a:t>Contoh</a:t>
            </a:r>
            <a:r>
              <a:rPr lang="id-ID" dirty="0"/>
              <a:t>: Prediksi apakah pelanggan akan membeli produk berdasarkan usia, pendapatan, dll.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105932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A0CD-186D-0DB4-DF35-C3A49653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85D7-A171-F69C-827C-D317C6241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Random Forest dan Gradient Boosting</a:t>
            </a:r>
          </a:p>
          <a:p>
            <a:r>
              <a:rPr lang="id-ID" b="1" dirty="0"/>
              <a:t>Random Forest</a:t>
            </a:r>
            <a:r>
              <a:rPr lang="id-ID" dirty="0"/>
              <a:t>: Menggunakan banyak pohon keputusan dan menggabungkannya untuk prediksi yang lebih stabil.</a:t>
            </a:r>
          </a:p>
          <a:p>
            <a:r>
              <a:rPr lang="id-ID" b="1" dirty="0"/>
              <a:t>Gradient Boosting</a:t>
            </a:r>
            <a:r>
              <a:rPr lang="id-ID" dirty="0"/>
              <a:t>: Menggunakan model berbasis pohon keputusan yang dibangun secara berurutan, dengan setiap pohon memperbaiki kesalahan pohon sebelumnya.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35774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D926-31C4-F1C4-B0EF-D73512BD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792C7-8C95-DD7A-9A8A-1658E356F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Naive Bayes</a:t>
            </a:r>
          </a:p>
          <a:p>
            <a:r>
              <a:rPr lang="id-ID" b="1" dirty="0"/>
              <a:t>Definisi</a:t>
            </a:r>
            <a:r>
              <a:rPr lang="id-ID" dirty="0"/>
              <a:t>: Metode berbasis probabilitas yang menganggap setiap fitur independen.</a:t>
            </a:r>
          </a:p>
          <a:p>
            <a:r>
              <a:rPr lang="id-ID" b="1" dirty="0"/>
              <a:t>Contoh</a:t>
            </a:r>
            <a:r>
              <a:rPr lang="id-ID" dirty="0"/>
              <a:t>: Klasifikasi email spam atau bukan spam.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53587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5BD7-23C7-6EC1-10FF-0AA2EC40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Asumsi-Asumsi dalam Model Regresi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CA50E-7167-4EB0-4F42-E0E74F58F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Asumsi dalam Regresi Linear</a:t>
            </a:r>
          </a:p>
          <a:p>
            <a:r>
              <a:rPr lang="id-ID" b="1" dirty="0"/>
              <a:t>Linearitas</a:t>
            </a:r>
            <a:r>
              <a:rPr lang="id-ID" dirty="0"/>
              <a:t>: Hubungan antara variabel independen dan dependen harus linear.</a:t>
            </a:r>
          </a:p>
          <a:p>
            <a:r>
              <a:rPr lang="id-ID" b="1" dirty="0"/>
              <a:t>Independensi</a:t>
            </a:r>
            <a:r>
              <a:rPr lang="id-ID" dirty="0"/>
              <a:t>: Observasi tidak saling mempengaruhi.</a:t>
            </a:r>
          </a:p>
          <a:p>
            <a:r>
              <a:rPr lang="id-ID" b="1" dirty="0"/>
              <a:t>Homoskedastisitas</a:t>
            </a:r>
            <a:r>
              <a:rPr lang="id-ID" dirty="0"/>
              <a:t>: Variansi residual harus konstan di seluruh rentang nilai variabel independen.</a:t>
            </a:r>
          </a:p>
          <a:p>
            <a:r>
              <a:rPr lang="id-ID" b="1" dirty="0"/>
              <a:t>Normalitas Error</a:t>
            </a:r>
            <a:r>
              <a:rPr lang="id-ID" dirty="0"/>
              <a:t>: Residual (kesalahan) model harus terdistribusi normal.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25214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671D-D491-FA2E-CEBD-E304A4A3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BA39-0B7C-F537-6E13-F0407D586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Uji Asumsi</a:t>
            </a:r>
            <a:endParaRPr lang="en-US" dirty="0"/>
          </a:p>
          <a:p>
            <a:r>
              <a:rPr lang="id-ID" b="1" dirty="0"/>
              <a:t>Durbin-Watson Test</a:t>
            </a:r>
            <a:r>
              <a:rPr lang="id-ID" dirty="0"/>
              <a:t>: Untuk mengecek independensi residual.</a:t>
            </a:r>
          </a:p>
          <a:p>
            <a:r>
              <a:rPr lang="id-ID" b="1" dirty="0"/>
              <a:t>Uji Multikolinearitas</a:t>
            </a:r>
            <a:r>
              <a:rPr lang="id-ID" dirty="0"/>
              <a:t>: Menggunakan Variance Inflation Factor (VIF) untuk mengecek adanya korelasi antar variabel independen.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64277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28F7-DD81-3DBF-2D01-D163663E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id-ID" dirty="0"/>
              <a:t>enerapan Machine Learning dalam Statistik dan Aplikasinya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23EA-1E7E-93F2-EA65-3D2E313A9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Aplikasi di Berbagai Bidang</a:t>
            </a:r>
          </a:p>
          <a:p>
            <a:r>
              <a:rPr lang="id-ID" b="1" dirty="0"/>
              <a:t>Keuangan</a:t>
            </a:r>
            <a:r>
              <a:rPr lang="id-ID" dirty="0"/>
              <a:t>: Prediksi harga saham dan risiko kredit.</a:t>
            </a:r>
          </a:p>
          <a:p>
            <a:r>
              <a:rPr lang="id-ID" b="1" dirty="0"/>
              <a:t>Kesehatan</a:t>
            </a:r>
            <a:r>
              <a:rPr lang="id-ID" dirty="0"/>
              <a:t>: Deteksi penyakit (misalnya, kanker), analisis citra medis.</a:t>
            </a:r>
          </a:p>
          <a:p>
            <a:r>
              <a:rPr lang="id-ID" b="1" dirty="0"/>
              <a:t>Pemasaran</a:t>
            </a:r>
            <a:r>
              <a:rPr lang="id-ID" dirty="0"/>
              <a:t>: Segmentasi pasar, analisis perilaku pelanggan.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97354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C1EF-87DF-757C-3696-6FB9F371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C894D-8E62-D7F6-DA18-BE7C626B2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Kelebihan dan Kekurangan</a:t>
            </a:r>
          </a:p>
          <a:p>
            <a:r>
              <a:rPr lang="id-ID" b="1" dirty="0"/>
              <a:t>Kelebihan</a:t>
            </a:r>
            <a:r>
              <a:rPr lang="id-ID" dirty="0"/>
              <a:t>: Mampu menganalisis data besar, menghasilkan prediksi yang akurat.</a:t>
            </a:r>
          </a:p>
          <a:p>
            <a:r>
              <a:rPr lang="id-ID" b="1" dirty="0"/>
              <a:t>Kekurangan</a:t>
            </a:r>
            <a:r>
              <a:rPr lang="id-ID" dirty="0"/>
              <a:t>: Memerlukan data yang besar dan bersih, memerlukan pemahaman yang mendalam tentang algoritma dan evaluasi model.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76295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9BED-A869-56C9-65AC-57C900A0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16DA6-31FD-C2A2-0974-2CFFA893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Kesimpulan</a:t>
            </a:r>
          </a:p>
          <a:p>
            <a:r>
              <a:rPr lang="id-ID" dirty="0"/>
              <a:t>Machine Learning dan Statistik dapat digunakan bersama untuk membangun model yang akurat untuk berbagai aplikasi.</a:t>
            </a:r>
          </a:p>
          <a:p>
            <a:r>
              <a:rPr lang="id-ID" dirty="0"/>
              <a:t>Metode regresi adalah alat yang kuat untuk memprediksi nilai kontinu, tetapi harus memahami asumsi dan teknik evaluasi model.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8497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755</Words>
  <Application>Microsoft Office PowerPoint</Application>
  <PresentationFormat>Widescreen</PresentationFormat>
  <Paragraphs>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 METODE MACHINE LEARNING</vt:lpstr>
      <vt:lpstr>Apa itu Machine Learning? </vt:lpstr>
      <vt:lpstr>Machine Learning vs Statistik</vt:lpstr>
      <vt:lpstr>Jenis-Jenis Pembelajaran dalam Machine Learning</vt:lpstr>
      <vt:lpstr>PowerPoint Presentation</vt:lpstr>
      <vt:lpstr>Regresi dalam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Model-Model Machine Learning Statistik</vt:lpstr>
      <vt:lpstr>PowerPoint Presentation</vt:lpstr>
      <vt:lpstr>PowerPoint Presentation</vt:lpstr>
      <vt:lpstr>Asumsi-Asumsi dalam Model Regresi</vt:lpstr>
      <vt:lpstr>PowerPoint Presentation</vt:lpstr>
      <vt:lpstr>Penerapan Machine Learning dalam Statistik dan Aplikasinya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adamtri</dc:creator>
  <cp:lastModifiedBy>adamtri</cp:lastModifiedBy>
  <cp:revision>3</cp:revision>
  <dcterms:created xsi:type="dcterms:W3CDTF">2026-02-15T09:55:42Z</dcterms:created>
  <dcterms:modified xsi:type="dcterms:W3CDTF">2026-02-18T04:45:47Z</dcterms:modified>
</cp:coreProperties>
</file>