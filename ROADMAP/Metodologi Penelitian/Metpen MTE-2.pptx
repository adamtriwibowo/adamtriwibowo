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309" r:id="rId4"/>
    <p:sldId id="310" r:id="rId5"/>
    <p:sldId id="311" r:id="rId6"/>
    <p:sldId id="313" r:id="rId7"/>
    <p:sldId id="312" r:id="rId8"/>
    <p:sldId id="314" r:id="rId9"/>
    <p:sldId id="315" r:id="rId10"/>
    <p:sldId id="31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54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aruddin Syafie" userId="5b199c0625b2b8c0" providerId="LiveId" clId="{0848EFF9-AA68-4719-95BB-1A2C5C199852}"/>
    <pc:docChg chg="modSld">
      <pc:chgData name="Nasaruddin Syafie" userId="5b199c0625b2b8c0" providerId="LiveId" clId="{0848EFF9-AA68-4719-95BB-1A2C5C199852}" dt="2026-02-20T02:12:20.987" v="1" actId="20577"/>
      <pc:docMkLst>
        <pc:docMk/>
      </pc:docMkLst>
      <pc:sldChg chg="modSp mod">
        <pc:chgData name="Nasaruddin Syafie" userId="5b199c0625b2b8c0" providerId="LiveId" clId="{0848EFF9-AA68-4719-95BB-1A2C5C199852}" dt="2026-02-20T02:12:20.987" v="1" actId="20577"/>
        <pc:sldMkLst>
          <pc:docMk/>
          <pc:sldMk cId="0" sldId="256"/>
        </pc:sldMkLst>
        <pc:spChg chg="mod">
          <ac:chgData name="Nasaruddin Syafie" userId="5b199c0625b2b8c0" providerId="LiveId" clId="{0848EFF9-AA68-4719-95BB-1A2C5C199852}" dt="2026-02-20T02:12:20.987" v="1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8CCD7-4109-4D99-96AC-CF6584A6B934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6E9F0F-6117-4321-BF37-2C69B363A5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01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A0EF2E9-2BD3-4FCB-A662-291255E09BB3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A767A9C-6F1D-4CBF-A988-F23A13C84D5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4664"/>
            <a:ext cx="9144000" cy="2169586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en-AU" sz="4300" dirty="0" err="1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Pendahuluan</a:t>
            </a:r>
            <a: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I</a:t>
            </a:r>
            <a:b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</a:t>
            </a:r>
            <a:r>
              <a:rPr lang="en-AU" sz="4300" dirty="0" err="1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Arti</a:t>
            </a:r>
            <a: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, </a:t>
            </a:r>
            <a:r>
              <a:rPr lang="en-AU" sz="4300" dirty="0" err="1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Tujuan</a:t>
            </a:r>
            <a: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, </a:t>
            </a:r>
            <a:r>
              <a:rPr lang="en-AU" sz="4300" dirty="0" err="1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Motivasi</a:t>
            </a:r>
            <a: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, </a:t>
            </a:r>
            <a:r>
              <a:rPr lang="en-AU" sz="4300" dirty="0" err="1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dan</a:t>
            </a:r>
            <a: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</a:t>
            </a:r>
            <a:b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en-AU" sz="4300" dirty="0" err="1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Tipe-Tipe</a:t>
            </a:r>
            <a: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</a:t>
            </a:r>
            <a:r>
              <a:rPr lang="en-AU" sz="4300" dirty="0" err="1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dari</a:t>
            </a:r>
            <a: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</a:t>
            </a:r>
            <a:r>
              <a:rPr lang="en-AU" sz="4300" dirty="0" err="1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Penelitian</a:t>
            </a:r>
            <a:r>
              <a:rPr lang="en-AU" sz="4300" dirty="0">
                <a:ln>
                  <a:prstDash val="solid"/>
                </a:ln>
                <a:solidFill>
                  <a:schemeClr val="tx1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</a:t>
            </a:r>
            <a:endParaRPr lang="en-US" sz="4300" dirty="0">
              <a:ln>
                <a:prstDash val="solid"/>
              </a:ln>
              <a:solidFill>
                <a:schemeClr val="tx1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838200" y="5685680"/>
            <a:ext cx="7772400" cy="1199704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64008" lvl="0" indent="0" algn="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AU" sz="27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Metodologi</a:t>
            </a:r>
            <a:r>
              <a:rPr kumimoji="0" lang="en-AU" sz="2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AU" sz="27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Penelitian</a:t>
            </a:r>
            <a:endParaRPr kumimoji="0" lang="id-ID" sz="27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64008" lvl="0" indent="0" algn="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id-ID" sz="2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Tahun Akademik 20</a:t>
            </a:r>
            <a:r>
              <a:rPr kumimoji="0" lang="en-AU" sz="2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</a:t>
            </a:r>
            <a:r>
              <a:rPr kumimoji="0" lang="id-ID" sz="2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/20</a:t>
            </a:r>
            <a:r>
              <a:rPr kumimoji="0" lang="en-AU" sz="2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26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82BD794-228E-CC6A-1ED1-7ED700D4C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/>
              <a:t>Arti</a:t>
            </a:r>
            <a:r>
              <a:rPr lang="en-AU" dirty="0"/>
              <a:t> </a:t>
            </a:r>
            <a:r>
              <a:rPr lang="en-AU" dirty="0" err="1"/>
              <a:t>Penelitian</a:t>
            </a:r>
            <a:endParaRPr lang="en-AU" dirty="0"/>
          </a:p>
          <a:p>
            <a:r>
              <a:rPr lang="en-AU" dirty="0" err="1"/>
              <a:t>Tujuan</a:t>
            </a:r>
            <a:r>
              <a:rPr lang="en-AU" dirty="0"/>
              <a:t> </a:t>
            </a:r>
            <a:r>
              <a:rPr lang="en-AU" dirty="0" err="1"/>
              <a:t>Penelitian</a:t>
            </a:r>
            <a:endParaRPr lang="en-AU" dirty="0"/>
          </a:p>
          <a:p>
            <a:r>
              <a:rPr lang="en-AU" dirty="0" err="1"/>
              <a:t>Motivasi</a:t>
            </a:r>
            <a:r>
              <a:rPr lang="en-AU" dirty="0"/>
              <a:t> </a:t>
            </a:r>
            <a:r>
              <a:rPr lang="en-AU" dirty="0" err="1"/>
              <a:t>Penelitian</a:t>
            </a:r>
            <a:endParaRPr lang="en-AU" dirty="0"/>
          </a:p>
          <a:p>
            <a:r>
              <a:rPr lang="en-AU" dirty="0" err="1"/>
              <a:t>Tipe-tipe</a:t>
            </a:r>
            <a:r>
              <a:rPr lang="en-AU" dirty="0"/>
              <a:t> </a:t>
            </a:r>
            <a:r>
              <a:rPr lang="en-AU" dirty="0" err="1"/>
              <a:t>penelitian</a:t>
            </a:r>
            <a:endParaRPr lang="id-ID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Agenda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a search for knowledge</a:t>
            </a:r>
          </a:p>
          <a:p>
            <a:r>
              <a:rPr lang="en-AU" dirty="0"/>
              <a:t>a scientific and systematic search for pertinent information on a specific topic</a:t>
            </a:r>
          </a:p>
          <a:p>
            <a:r>
              <a:rPr lang="en-AU" dirty="0"/>
              <a:t>a careful investigation or inquiry specially through search for new facts in any branch of knowledge</a:t>
            </a:r>
          </a:p>
          <a:p>
            <a:r>
              <a:rPr lang="en-AU" dirty="0"/>
              <a:t>an original contribution to the existing stock of knowledge making for its advancement</a:t>
            </a:r>
          </a:p>
          <a:p>
            <a:r>
              <a:rPr lang="en-AU" dirty="0"/>
              <a:t>the search for knowledge through objective and systematic method of finding solution to a problem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Arti</a:t>
            </a:r>
            <a:r>
              <a:rPr lang="en-AU" dirty="0"/>
              <a:t> </a:t>
            </a:r>
            <a:r>
              <a:rPr lang="en-AU" dirty="0" err="1"/>
              <a:t>Penelitian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129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err="1">
                <a:solidFill>
                  <a:srgbClr val="00B0F0"/>
                </a:solidFill>
              </a:rPr>
              <a:t>Untuk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menguatkan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kedekatan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dengan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sebuah</a:t>
            </a:r>
            <a:r>
              <a:rPr lang="en-AU" dirty="0">
                <a:solidFill>
                  <a:srgbClr val="00B0F0"/>
                </a:solidFill>
              </a:rPr>
              <a:t> phenomena </a:t>
            </a:r>
            <a:r>
              <a:rPr lang="en-AU" dirty="0" err="1">
                <a:solidFill>
                  <a:srgbClr val="00B0F0"/>
                </a:solidFill>
              </a:rPr>
              <a:t>atau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untuk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mendapatkan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wawasan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baru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kedalam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objek</a:t>
            </a:r>
            <a:r>
              <a:rPr lang="en-AU" dirty="0">
                <a:solidFill>
                  <a:srgbClr val="00B0F0"/>
                </a:solidFill>
              </a:rPr>
              <a:t> yang </a:t>
            </a:r>
            <a:r>
              <a:rPr lang="en-AU" dirty="0" err="1">
                <a:solidFill>
                  <a:srgbClr val="00B0F0"/>
                </a:solidFill>
              </a:rPr>
              <a:t>akan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diteliti</a:t>
            </a:r>
            <a:endParaRPr lang="en-AU" dirty="0">
              <a:solidFill>
                <a:srgbClr val="00B0F0"/>
              </a:solidFill>
            </a:endParaRPr>
          </a:p>
          <a:p>
            <a:pPr lvl="1"/>
            <a:r>
              <a:rPr lang="en-AU" dirty="0" err="1">
                <a:solidFill>
                  <a:srgbClr val="00B050"/>
                </a:solidFill>
              </a:rPr>
              <a:t>Dalam</a:t>
            </a:r>
            <a:r>
              <a:rPr lang="en-AU" dirty="0">
                <a:solidFill>
                  <a:srgbClr val="00B050"/>
                </a:solidFill>
              </a:rPr>
              <a:t> </a:t>
            </a:r>
            <a:r>
              <a:rPr lang="en-AU" dirty="0" err="1">
                <a:solidFill>
                  <a:srgbClr val="00B050"/>
                </a:solidFill>
              </a:rPr>
              <a:t>kajian</a:t>
            </a:r>
            <a:r>
              <a:rPr lang="en-AU" dirty="0">
                <a:solidFill>
                  <a:srgbClr val="00B050"/>
                </a:solidFill>
              </a:rPr>
              <a:t> </a:t>
            </a:r>
            <a:r>
              <a:rPr lang="en-AU" dirty="0" err="1">
                <a:solidFill>
                  <a:srgbClr val="00B050"/>
                </a:solidFill>
              </a:rPr>
              <a:t>atau</a:t>
            </a:r>
            <a:r>
              <a:rPr lang="en-AU" dirty="0">
                <a:solidFill>
                  <a:srgbClr val="00B050"/>
                </a:solidFill>
              </a:rPr>
              <a:t> </a:t>
            </a:r>
            <a:r>
              <a:rPr lang="en-AU" dirty="0" err="1">
                <a:solidFill>
                  <a:srgbClr val="00B050"/>
                </a:solidFill>
              </a:rPr>
              <a:t>riset</a:t>
            </a:r>
            <a:r>
              <a:rPr lang="en-AU" dirty="0">
                <a:solidFill>
                  <a:srgbClr val="00B050"/>
                </a:solidFill>
              </a:rPr>
              <a:t> yang </a:t>
            </a:r>
            <a:r>
              <a:rPr lang="en-AU" dirty="0" err="1">
                <a:solidFill>
                  <a:srgbClr val="00B050"/>
                </a:solidFill>
              </a:rPr>
              <a:t>diformulasikan</a:t>
            </a:r>
            <a:endParaRPr lang="en-AU" dirty="0">
              <a:solidFill>
                <a:srgbClr val="00B050"/>
              </a:solidFill>
            </a:endParaRPr>
          </a:p>
          <a:p>
            <a:r>
              <a:rPr lang="en-AU" dirty="0" err="1"/>
              <a:t>Untuk</a:t>
            </a:r>
            <a:r>
              <a:rPr lang="en-AU" dirty="0"/>
              <a:t> </a:t>
            </a:r>
            <a:r>
              <a:rPr lang="en-AU" dirty="0" err="1"/>
              <a:t>gambaran</a:t>
            </a:r>
            <a:r>
              <a:rPr lang="en-AU" dirty="0"/>
              <a:t> </a:t>
            </a:r>
            <a:r>
              <a:rPr lang="en-AU" dirty="0" err="1"/>
              <a:t>karakteristik</a:t>
            </a:r>
            <a:r>
              <a:rPr lang="en-AU" dirty="0"/>
              <a:t> yang </a:t>
            </a:r>
            <a:r>
              <a:rPr lang="en-AU" dirty="0" err="1"/>
              <a:t>tepat</a:t>
            </a:r>
            <a:r>
              <a:rPr lang="en-AU" dirty="0"/>
              <a:t> </a:t>
            </a:r>
            <a:r>
              <a:rPr lang="en-AU" dirty="0" err="1"/>
              <a:t>dari</a:t>
            </a:r>
            <a:r>
              <a:rPr lang="en-AU" dirty="0"/>
              <a:t> </a:t>
            </a:r>
            <a:r>
              <a:rPr lang="en-AU" dirty="0" err="1"/>
              <a:t>sebuah</a:t>
            </a:r>
            <a:r>
              <a:rPr lang="en-AU" dirty="0"/>
              <a:t> </a:t>
            </a:r>
            <a:r>
              <a:rPr lang="en-AU" dirty="0" err="1"/>
              <a:t>objek</a:t>
            </a:r>
            <a:r>
              <a:rPr lang="en-AU" dirty="0"/>
              <a:t>, </a:t>
            </a:r>
            <a:r>
              <a:rPr lang="en-AU" dirty="0" err="1"/>
              <a:t>situasi</a:t>
            </a:r>
            <a:r>
              <a:rPr lang="en-AU" dirty="0"/>
              <a:t> </a:t>
            </a:r>
            <a:r>
              <a:rPr lang="en-AU" dirty="0" err="1"/>
              <a:t>atau</a:t>
            </a:r>
            <a:r>
              <a:rPr lang="en-AU" dirty="0"/>
              <a:t> </a:t>
            </a:r>
            <a:r>
              <a:rPr lang="en-AU" dirty="0" err="1"/>
              <a:t>grup</a:t>
            </a:r>
            <a:endParaRPr lang="en-AU" dirty="0"/>
          </a:p>
          <a:p>
            <a:pPr lvl="1"/>
            <a:r>
              <a:rPr lang="en-AU" dirty="0" err="1"/>
              <a:t>Penelitian</a:t>
            </a:r>
            <a:r>
              <a:rPr lang="en-AU" dirty="0"/>
              <a:t> </a:t>
            </a:r>
            <a:r>
              <a:rPr lang="en-AU" dirty="0" err="1"/>
              <a:t>deskriptif</a:t>
            </a:r>
            <a:r>
              <a:rPr lang="en-AU" dirty="0"/>
              <a:t> </a:t>
            </a:r>
          </a:p>
          <a:p>
            <a:r>
              <a:rPr lang="en-AU" dirty="0" err="1"/>
              <a:t>Untuk</a:t>
            </a:r>
            <a:r>
              <a:rPr lang="en-AU" dirty="0"/>
              <a:t> </a:t>
            </a:r>
            <a:r>
              <a:rPr lang="en-AU" dirty="0" err="1"/>
              <a:t>menentukan</a:t>
            </a:r>
            <a:r>
              <a:rPr lang="en-AU" dirty="0"/>
              <a:t> </a:t>
            </a:r>
            <a:r>
              <a:rPr lang="en-AU" dirty="0" err="1"/>
              <a:t>tingkat</a:t>
            </a:r>
            <a:r>
              <a:rPr lang="en-AU" dirty="0"/>
              <a:t> </a:t>
            </a:r>
            <a:r>
              <a:rPr lang="en-AU" dirty="0" err="1"/>
              <a:t>kejadian</a:t>
            </a:r>
            <a:r>
              <a:rPr lang="en-AU" dirty="0"/>
              <a:t> </a:t>
            </a:r>
            <a:r>
              <a:rPr lang="en-AU" dirty="0" err="1"/>
              <a:t>dari</a:t>
            </a:r>
            <a:r>
              <a:rPr lang="en-AU" dirty="0"/>
              <a:t> </a:t>
            </a:r>
            <a:r>
              <a:rPr lang="en-AU" dirty="0" err="1"/>
              <a:t>suatu</a:t>
            </a:r>
            <a:r>
              <a:rPr lang="en-AU" dirty="0"/>
              <a:t> </a:t>
            </a:r>
            <a:r>
              <a:rPr lang="en-AU" dirty="0" err="1"/>
              <a:t>objek</a:t>
            </a:r>
            <a:endParaRPr lang="en-AU" dirty="0"/>
          </a:p>
          <a:p>
            <a:pPr lvl="1"/>
            <a:r>
              <a:rPr lang="en-AU" dirty="0" err="1"/>
              <a:t>Penelitian</a:t>
            </a:r>
            <a:r>
              <a:rPr lang="en-AU" dirty="0"/>
              <a:t> diagnosis</a:t>
            </a:r>
          </a:p>
          <a:p>
            <a:r>
              <a:rPr lang="en-AU" dirty="0" err="1">
                <a:solidFill>
                  <a:srgbClr val="00B0F0"/>
                </a:solidFill>
              </a:rPr>
              <a:t>Untuk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menguji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hipotesis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dari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hubungan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antar</a:t>
            </a:r>
            <a:r>
              <a:rPr lang="en-AU" dirty="0">
                <a:solidFill>
                  <a:srgbClr val="00B0F0"/>
                </a:solidFill>
              </a:rPr>
              <a:t> </a:t>
            </a:r>
            <a:r>
              <a:rPr lang="en-AU" dirty="0" err="1">
                <a:solidFill>
                  <a:srgbClr val="00B0F0"/>
                </a:solidFill>
              </a:rPr>
              <a:t>variabel</a:t>
            </a:r>
            <a:endParaRPr lang="en-AU" dirty="0">
              <a:solidFill>
                <a:srgbClr val="00B0F0"/>
              </a:solidFill>
            </a:endParaRPr>
          </a:p>
          <a:p>
            <a:pPr lvl="1"/>
            <a:r>
              <a:rPr lang="en-AU" dirty="0" err="1">
                <a:solidFill>
                  <a:srgbClr val="00B050"/>
                </a:solidFill>
              </a:rPr>
              <a:t>Penelitian</a:t>
            </a:r>
            <a:r>
              <a:rPr lang="en-AU" dirty="0">
                <a:solidFill>
                  <a:srgbClr val="00B050"/>
                </a:solidFill>
              </a:rPr>
              <a:t> </a:t>
            </a:r>
            <a:r>
              <a:rPr lang="en-AU" dirty="0" err="1">
                <a:solidFill>
                  <a:srgbClr val="00B050"/>
                </a:solidFill>
              </a:rPr>
              <a:t>hipotesis-pengujian</a:t>
            </a:r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Tujuan</a:t>
            </a:r>
            <a:r>
              <a:rPr lang="en-AU" dirty="0"/>
              <a:t> </a:t>
            </a:r>
            <a:r>
              <a:rPr lang="en-AU" dirty="0" err="1"/>
              <a:t>Penelitian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375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 err="1"/>
              <a:t>Keinginan</a:t>
            </a:r>
            <a:r>
              <a:rPr lang="en-AU" dirty="0"/>
              <a:t> </a:t>
            </a:r>
            <a:r>
              <a:rPr lang="en-AU" dirty="0" err="1"/>
              <a:t>untuk</a:t>
            </a:r>
            <a:r>
              <a:rPr lang="en-AU" dirty="0"/>
              <a:t> </a:t>
            </a:r>
            <a:r>
              <a:rPr lang="en-AU" dirty="0" err="1"/>
              <a:t>mendapatkan</a:t>
            </a:r>
            <a:r>
              <a:rPr lang="en-AU" dirty="0"/>
              <a:t> </a:t>
            </a:r>
            <a:r>
              <a:rPr lang="en-AU" dirty="0" err="1"/>
              <a:t>tingkat</a:t>
            </a:r>
            <a:r>
              <a:rPr lang="en-AU" dirty="0"/>
              <a:t> </a:t>
            </a:r>
            <a:r>
              <a:rPr lang="en-AU" dirty="0" err="1"/>
              <a:t>penelitian</a:t>
            </a:r>
            <a:r>
              <a:rPr lang="en-AU" dirty="0"/>
              <a:t> yang </a:t>
            </a:r>
            <a:r>
              <a:rPr lang="en-AU" dirty="0" err="1"/>
              <a:t>memberikan</a:t>
            </a:r>
            <a:r>
              <a:rPr lang="en-AU" dirty="0"/>
              <a:t> </a:t>
            </a:r>
            <a:r>
              <a:rPr lang="en-AU" dirty="0" err="1"/>
              <a:t>manfaat</a:t>
            </a:r>
            <a:endParaRPr lang="en-AU" dirty="0"/>
          </a:p>
          <a:p>
            <a:r>
              <a:rPr lang="en-AU" dirty="0" err="1"/>
              <a:t>Keinginan</a:t>
            </a:r>
            <a:r>
              <a:rPr lang="en-AU" dirty="0"/>
              <a:t> </a:t>
            </a:r>
            <a:r>
              <a:rPr lang="en-AU" dirty="0" err="1"/>
              <a:t>untuk</a:t>
            </a:r>
            <a:r>
              <a:rPr lang="en-AU" dirty="0"/>
              <a:t> </a:t>
            </a:r>
            <a:r>
              <a:rPr lang="en-AU" dirty="0" err="1"/>
              <a:t>menghadapi</a:t>
            </a:r>
            <a:r>
              <a:rPr lang="en-AU" dirty="0"/>
              <a:t> </a:t>
            </a:r>
            <a:r>
              <a:rPr lang="en-AU" dirty="0" err="1"/>
              <a:t>tantangan</a:t>
            </a:r>
            <a:r>
              <a:rPr lang="en-AU" dirty="0"/>
              <a:t> </a:t>
            </a:r>
            <a:r>
              <a:rPr lang="en-AU" dirty="0" err="1"/>
              <a:t>dalam</a:t>
            </a:r>
            <a:r>
              <a:rPr lang="en-AU" dirty="0"/>
              <a:t> </a:t>
            </a:r>
            <a:r>
              <a:rPr lang="en-AU" dirty="0" err="1"/>
              <a:t>menyelesaikan</a:t>
            </a:r>
            <a:r>
              <a:rPr lang="en-AU" dirty="0"/>
              <a:t> </a:t>
            </a:r>
            <a:r>
              <a:rPr lang="en-AU" dirty="0" err="1"/>
              <a:t>masalah</a:t>
            </a:r>
            <a:r>
              <a:rPr lang="en-AU" dirty="0"/>
              <a:t> yang </a:t>
            </a:r>
            <a:r>
              <a:rPr lang="en-AU" dirty="0" err="1"/>
              <a:t>belum</a:t>
            </a:r>
            <a:r>
              <a:rPr lang="en-AU" dirty="0"/>
              <a:t> </a:t>
            </a:r>
            <a:r>
              <a:rPr lang="en-AU" dirty="0" err="1"/>
              <a:t>punya</a:t>
            </a:r>
            <a:r>
              <a:rPr lang="en-AU" dirty="0"/>
              <a:t> </a:t>
            </a:r>
            <a:r>
              <a:rPr lang="en-AU" dirty="0" err="1"/>
              <a:t>solusi</a:t>
            </a:r>
            <a:endParaRPr lang="en-AU" dirty="0"/>
          </a:p>
          <a:p>
            <a:pPr lvl="1"/>
            <a:r>
              <a:rPr lang="en-AU" dirty="0" err="1">
                <a:solidFill>
                  <a:srgbClr val="00B050"/>
                </a:solidFill>
              </a:rPr>
              <a:t>Fokus</a:t>
            </a:r>
            <a:r>
              <a:rPr lang="en-AU" dirty="0">
                <a:solidFill>
                  <a:srgbClr val="00B050"/>
                </a:solidFill>
              </a:rPr>
              <a:t> </a:t>
            </a:r>
            <a:r>
              <a:rPr lang="en-AU" dirty="0" err="1">
                <a:solidFill>
                  <a:srgbClr val="00B050"/>
                </a:solidFill>
              </a:rPr>
              <a:t>pada</a:t>
            </a:r>
            <a:r>
              <a:rPr lang="en-AU" dirty="0">
                <a:solidFill>
                  <a:srgbClr val="00B050"/>
                </a:solidFill>
              </a:rPr>
              <a:t> </a:t>
            </a:r>
            <a:r>
              <a:rPr lang="en-AU" dirty="0" err="1">
                <a:solidFill>
                  <a:srgbClr val="00B050"/>
                </a:solidFill>
              </a:rPr>
              <a:t>masalah-masalah</a:t>
            </a:r>
            <a:r>
              <a:rPr lang="en-AU" dirty="0">
                <a:solidFill>
                  <a:srgbClr val="00B050"/>
                </a:solidFill>
              </a:rPr>
              <a:t> </a:t>
            </a:r>
            <a:r>
              <a:rPr lang="en-AU" dirty="0" err="1">
                <a:solidFill>
                  <a:srgbClr val="00B050"/>
                </a:solidFill>
              </a:rPr>
              <a:t>praktis</a:t>
            </a:r>
            <a:r>
              <a:rPr lang="en-AU" dirty="0">
                <a:solidFill>
                  <a:srgbClr val="00B050"/>
                </a:solidFill>
              </a:rPr>
              <a:t> </a:t>
            </a:r>
            <a:r>
              <a:rPr lang="en-AU" dirty="0" err="1">
                <a:solidFill>
                  <a:srgbClr val="00B050"/>
                </a:solidFill>
              </a:rPr>
              <a:t>melalui</a:t>
            </a:r>
            <a:r>
              <a:rPr lang="en-AU" dirty="0">
                <a:solidFill>
                  <a:srgbClr val="00B050"/>
                </a:solidFill>
              </a:rPr>
              <a:t> </a:t>
            </a:r>
            <a:r>
              <a:rPr lang="en-AU" dirty="0" err="1">
                <a:solidFill>
                  <a:srgbClr val="00B050"/>
                </a:solidFill>
              </a:rPr>
              <a:t>penelitian</a:t>
            </a:r>
            <a:r>
              <a:rPr lang="en-AU" dirty="0">
                <a:solidFill>
                  <a:srgbClr val="00B050"/>
                </a:solidFill>
              </a:rPr>
              <a:t> </a:t>
            </a:r>
            <a:r>
              <a:rPr lang="en-AU" dirty="0" err="1">
                <a:solidFill>
                  <a:srgbClr val="00B050"/>
                </a:solidFill>
              </a:rPr>
              <a:t>inisiatif</a:t>
            </a:r>
            <a:r>
              <a:rPr lang="en-AU" dirty="0">
                <a:solidFill>
                  <a:srgbClr val="00B050"/>
                </a:solidFill>
              </a:rPr>
              <a:t> </a:t>
            </a:r>
          </a:p>
          <a:p>
            <a:r>
              <a:rPr lang="en-AU" dirty="0" err="1"/>
              <a:t>Keinginan</a:t>
            </a:r>
            <a:r>
              <a:rPr lang="en-AU" dirty="0"/>
              <a:t> </a:t>
            </a:r>
            <a:r>
              <a:rPr lang="en-AU" dirty="0" err="1"/>
              <a:t>untuk</a:t>
            </a:r>
            <a:r>
              <a:rPr lang="en-AU" dirty="0"/>
              <a:t> </a:t>
            </a:r>
            <a:r>
              <a:rPr lang="en-AU" dirty="0" err="1"/>
              <a:t>mendapatkan</a:t>
            </a:r>
            <a:r>
              <a:rPr lang="en-AU" dirty="0"/>
              <a:t> </a:t>
            </a:r>
            <a:r>
              <a:rPr lang="en-AU" dirty="0" err="1"/>
              <a:t>nilai</a:t>
            </a:r>
            <a:r>
              <a:rPr lang="en-AU" dirty="0"/>
              <a:t> </a:t>
            </a:r>
            <a:r>
              <a:rPr lang="en-AU" dirty="0" err="1"/>
              <a:t>intelektualitas</a:t>
            </a:r>
            <a:r>
              <a:rPr lang="en-AU" dirty="0"/>
              <a:t> </a:t>
            </a:r>
            <a:r>
              <a:rPr lang="en-AU" dirty="0" err="1"/>
              <a:t>dengan</a:t>
            </a:r>
            <a:r>
              <a:rPr lang="en-AU" dirty="0"/>
              <a:t> </a:t>
            </a:r>
            <a:r>
              <a:rPr lang="en-AU" dirty="0" err="1"/>
              <a:t>melakukan</a:t>
            </a:r>
            <a:r>
              <a:rPr lang="en-AU" dirty="0"/>
              <a:t> </a:t>
            </a:r>
            <a:r>
              <a:rPr lang="en-AU" dirty="0" err="1"/>
              <a:t>beberapa</a:t>
            </a:r>
            <a:r>
              <a:rPr lang="en-AU" dirty="0"/>
              <a:t> </a:t>
            </a:r>
            <a:r>
              <a:rPr lang="en-AU" dirty="0" err="1"/>
              <a:t>kegiatan</a:t>
            </a:r>
            <a:r>
              <a:rPr lang="en-AU" dirty="0"/>
              <a:t> </a:t>
            </a:r>
            <a:r>
              <a:rPr lang="en-AU" dirty="0" err="1"/>
              <a:t>kreatif</a:t>
            </a:r>
            <a:endParaRPr lang="en-AU" dirty="0"/>
          </a:p>
          <a:p>
            <a:r>
              <a:rPr lang="en-AU" dirty="0" err="1"/>
              <a:t>Keinginan</a:t>
            </a:r>
            <a:r>
              <a:rPr lang="en-AU" dirty="0"/>
              <a:t> </a:t>
            </a:r>
            <a:r>
              <a:rPr lang="en-AU" dirty="0" err="1"/>
              <a:t>untuk</a:t>
            </a:r>
            <a:r>
              <a:rPr lang="en-AU" dirty="0"/>
              <a:t> </a:t>
            </a:r>
            <a:r>
              <a:rPr lang="en-AU" dirty="0" err="1"/>
              <a:t>memberi</a:t>
            </a:r>
            <a:r>
              <a:rPr lang="en-AU" dirty="0"/>
              <a:t> </a:t>
            </a:r>
            <a:r>
              <a:rPr lang="en-AU" dirty="0" err="1"/>
              <a:t>layanan</a:t>
            </a:r>
            <a:r>
              <a:rPr lang="en-AU" dirty="0"/>
              <a:t> </a:t>
            </a:r>
            <a:r>
              <a:rPr lang="en-AU" dirty="0" err="1"/>
              <a:t>ke</a:t>
            </a:r>
            <a:r>
              <a:rPr lang="en-AU" dirty="0"/>
              <a:t> </a:t>
            </a:r>
            <a:r>
              <a:rPr lang="en-AU" dirty="0" err="1"/>
              <a:t>publik</a:t>
            </a:r>
            <a:r>
              <a:rPr lang="en-AU" dirty="0"/>
              <a:t> </a:t>
            </a:r>
          </a:p>
          <a:p>
            <a:r>
              <a:rPr lang="en-AU" dirty="0" err="1"/>
              <a:t>Keinginan</a:t>
            </a:r>
            <a:r>
              <a:rPr lang="en-AU" dirty="0"/>
              <a:t> </a:t>
            </a:r>
            <a:r>
              <a:rPr lang="en-AU" dirty="0" err="1"/>
              <a:t>untuk</a:t>
            </a:r>
            <a:r>
              <a:rPr lang="en-AU" dirty="0"/>
              <a:t> </a:t>
            </a:r>
            <a:r>
              <a:rPr lang="en-AU" dirty="0" err="1"/>
              <a:t>mendapatkan</a:t>
            </a:r>
            <a:r>
              <a:rPr lang="en-AU" dirty="0"/>
              <a:t> </a:t>
            </a:r>
            <a:r>
              <a:rPr lang="en-AU" dirty="0" err="1"/>
              <a:t>suatu</a:t>
            </a:r>
            <a:r>
              <a:rPr lang="en-AU" dirty="0"/>
              <a:t> </a:t>
            </a:r>
            <a:r>
              <a:rPr lang="en-AU" dirty="0" err="1"/>
              <a:t>penghargaan</a:t>
            </a:r>
            <a:r>
              <a:rPr lang="en-AU" dirty="0"/>
              <a:t> </a:t>
            </a:r>
            <a:r>
              <a:rPr lang="en-AU" dirty="0" err="1"/>
              <a:t>secara</a:t>
            </a:r>
            <a:r>
              <a:rPr lang="en-AU" dirty="0"/>
              <a:t> </a:t>
            </a:r>
            <a:r>
              <a:rPr lang="en-AU" dirty="0" err="1"/>
              <a:t>intelektual</a:t>
            </a:r>
            <a:r>
              <a:rPr lang="en-AU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Motivasi</a:t>
            </a:r>
            <a:r>
              <a:rPr lang="en-AU" dirty="0"/>
              <a:t> </a:t>
            </a:r>
            <a:r>
              <a:rPr lang="en-AU" dirty="0" err="1"/>
              <a:t>penelitian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144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err="1"/>
              <a:t>Penelitian</a:t>
            </a:r>
            <a:r>
              <a:rPr lang="en-AU" dirty="0"/>
              <a:t> yang </a:t>
            </a:r>
            <a:r>
              <a:rPr lang="en-AU" dirty="0" err="1"/>
              <a:t>diarahkan</a:t>
            </a:r>
            <a:r>
              <a:rPr lang="en-AU" dirty="0"/>
              <a:t> </a:t>
            </a:r>
            <a:r>
              <a:rPr lang="en-AU" dirty="0" err="1"/>
              <a:t>untuk</a:t>
            </a:r>
            <a:r>
              <a:rPr lang="en-AU" dirty="0"/>
              <a:t> </a:t>
            </a:r>
            <a:r>
              <a:rPr lang="en-AU" dirty="0" err="1"/>
              <a:t>solusi</a:t>
            </a:r>
            <a:r>
              <a:rPr lang="en-AU" dirty="0"/>
              <a:t> </a:t>
            </a:r>
            <a:r>
              <a:rPr lang="en-AU" dirty="0" err="1"/>
              <a:t>dari</a:t>
            </a:r>
            <a:r>
              <a:rPr lang="en-AU" dirty="0"/>
              <a:t> </a:t>
            </a:r>
            <a:r>
              <a:rPr lang="en-AU" dirty="0" err="1"/>
              <a:t>suatu</a:t>
            </a:r>
            <a:r>
              <a:rPr lang="en-AU" dirty="0"/>
              <a:t> </a:t>
            </a:r>
            <a:r>
              <a:rPr lang="en-AU" dirty="0" err="1"/>
              <a:t>permasalahan</a:t>
            </a:r>
            <a:endParaRPr lang="en-AU" dirty="0"/>
          </a:p>
          <a:p>
            <a:r>
              <a:rPr lang="en-AU" dirty="0" err="1"/>
              <a:t>Penelitian</a:t>
            </a:r>
            <a:r>
              <a:rPr lang="en-AU" dirty="0"/>
              <a:t> </a:t>
            </a:r>
            <a:r>
              <a:rPr lang="en-AU" dirty="0" err="1"/>
              <a:t>membutuhkan</a:t>
            </a:r>
            <a:r>
              <a:rPr lang="en-AU" dirty="0"/>
              <a:t> </a:t>
            </a:r>
            <a:r>
              <a:rPr lang="en-AU" dirty="0" err="1"/>
              <a:t>keahlian</a:t>
            </a:r>
            <a:endParaRPr lang="en-AU" dirty="0"/>
          </a:p>
          <a:p>
            <a:r>
              <a:rPr lang="en-AU" dirty="0" err="1"/>
              <a:t>Penelitian</a:t>
            </a:r>
            <a:r>
              <a:rPr lang="en-AU" dirty="0"/>
              <a:t> </a:t>
            </a:r>
            <a:r>
              <a:rPr lang="en-AU" dirty="0" err="1"/>
              <a:t>difokuskan</a:t>
            </a:r>
            <a:r>
              <a:rPr lang="en-AU" dirty="0"/>
              <a:t> </a:t>
            </a:r>
            <a:r>
              <a:rPr lang="en-AU" dirty="0" err="1"/>
              <a:t>pengembangan</a:t>
            </a:r>
            <a:r>
              <a:rPr lang="en-AU" dirty="0"/>
              <a:t> </a:t>
            </a:r>
            <a:r>
              <a:rPr lang="en-AU" dirty="0" err="1"/>
              <a:t>secara</a:t>
            </a:r>
            <a:r>
              <a:rPr lang="en-AU" dirty="0"/>
              <a:t> </a:t>
            </a:r>
            <a:r>
              <a:rPr lang="en-AU" dirty="0" err="1"/>
              <a:t>umum</a:t>
            </a:r>
            <a:r>
              <a:rPr lang="en-AU" dirty="0"/>
              <a:t>, </a:t>
            </a:r>
            <a:r>
              <a:rPr lang="en-AU" dirty="0" err="1"/>
              <a:t>prinsipil</a:t>
            </a:r>
            <a:r>
              <a:rPr lang="en-AU" dirty="0"/>
              <a:t> </a:t>
            </a:r>
            <a:r>
              <a:rPr lang="en-AU" dirty="0" err="1"/>
              <a:t>atau</a:t>
            </a:r>
            <a:r>
              <a:rPr lang="en-AU" dirty="0"/>
              <a:t> </a:t>
            </a:r>
            <a:r>
              <a:rPr lang="en-AU" dirty="0" err="1"/>
              <a:t>teori</a:t>
            </a:r>
            <a:r>
              <a:rPr lang="en-AU" dirty="0"/>
              <a:t> </a:t>
            </a:r>
            <a:r>
              <a:rPr lang="en-AU" dirty="0" err="1"/>
              <a:t>untuk</a:t>
            </a:r>
            <a:r>
              <a:rPr lang="en-AU" dirty="0"/>
              <a:t> </a:t>
            </a:r>
            <a:r>
              <a:rPr lang="en-AU" dirty="0" err="1"/>
              <a:t>membantu</a:t>
            </a:r>
            <a:r>
              <a:rPr lang="en-AU" dirty="0"/>
              <a:t> </a:t>
            </a:r>
            <a:r>
              <a:rPr lang="en-AU" dirty="0" err="1"/>
              <a:t>prediksi</a:t>
            </a:r>
            <a:r>
              <a:rPr lang="en-AU" dirty="0"/>
              <a:t> </a:t>
            </a:r>
            <a:r>
              <a:rPr lang="en-AU" dirty="0" err="1"/>
              <a:t>kejadian</a:t>
            </a:r>
            <a:r>
              <a:rPr lang="en-AU" dirty="0"/>
              <a:t> </a:t>
            </a:r>
            <a:r>
              <a:rPr lang="en-AU" dirty="0" err="1"/>
              <a:t>ke</a:t>
            </a:r>
            <a:r>
              <a:rPr lang="en-AU" dirty="0"/>
              <a:t> </a:t>
            </a:r>
            <a:r>
              <a:rPr lang="en-AU" dirty="0" err="1"/>
              <a:t>depan</a:t>
            </a:r>
            <a:endParaRPr lang="en-AU" dirty="0"/>
          </a:p>
          <a:p>
            <a:r>
              <a:rPr lang="en-AU" dirty="0" err="1"/>
              <a:t>Penelitian</a:t>
            </a:r>
            <a:r>
              <a:rPr lang="en-AU" dirty="0"/>
              <a:t> </a:t>
            </a:r>
            <a:r>
              <a:rPr lang="en-AU" dirty="0" err="1"/>
              <a:t>berdasarkan</a:t>
            </a:r>
            <a:r>
              <a:rPr lang="en-AU" dirty="0"/>
              <a:t> </a:t>
            </a:r>
            <a:r>
              <a:rPr lang="en-AU" dirty="0" err="1"/>
              <a:t>pengalaman</a:t>
            </a:r>
            <a:r>
              <a:rPr lang="en-AU" dirty="0"/>
              <a:t> </a:t>
            </a:r>
            <a:r>
              <a:rPr lang="en-AU" dirty="0" err="1"/>
              <a:t>observasi</a:t>
            </a:r>
            <a:r>
              <a:rPr lang="en-AU" dirty="0"/>
              <a:t> </a:t>
            </a:r>
            <a:r>
              <a:rPr lang="en-AU" dirty="0" err="1"/>
              <a:t>atau</a:t>
            </a:r>
            <a:r>
              <a:rPr lang="en-AU" dirty="0"/>
              <a:t> </a:t>
            </a:r>
            <a:r>
              <a:rPr lang="en-AU" dirty="0" err="1"/>
              <a:t>bukti</a:t>
            </a:r>
            <a:r>
              <a:rPr lang="en-AU" dirty="0"/>
              <a:t> </a:t>
            </a:r>
            <a:r>
              <a:rPr lang="en-AU" dirty="0" err="1"/>
              <a:t>empiris</a:t>
            </a:r>
            <a:endParaRPr lang="en-AU" dirty="0"/>
          </a:p>
          <a:p>
            <a:r>
              <a:rPr lang="en-AU" dirty="0" err="1"/>
              <a:t>Penelitian</a:t>
            </a:r>
            <a:r>
              <a:rPr lang="en-AU" dirty="0"/>
              <a:t> </a:t>
            </a:r>
            <a:r>
              <a:rPr lang="en-AU" dirty="0" err="1"/>
              <a:t>dikarakterisasi</a:t>
            </a:r>
            <a:r>
              <a:rPr lang="en-AU" dirty="0"/>
              <a:t> </a:t>
            </a:r>
            <a:r>
              <a:rPr lang="en-AU" dirty="0" err="1"/>
              <a:t>dengan</a:t>
            </a:r>
            <a:r>
              <a:rPr lang="en-AU" dirty="0"/>
              <a:t> </a:t>
            </a:r>
            <a:r>
              <a:rPr lang="en-AU" dirty="0" err="1"/>
              <a:t>prosedur</a:t>
            </a:r>
            <a:r>
              <a:rPr lang="en-AU" dirty="0"/>
              <a:t> </a:t>
            </a:r>
            <a:r>
              <a:rPr lang="en-AU" dirty="0" err="1"/>
              <a:t>perancangan</a:t>
            </a:r>
            <a:r>
              <a:rPr lang="en-AU" dirty="0"/>
              <a:t> </a:t>
            </a:r>
            <a:r>
              <a:rPr lang="en-AU" dirty="0" err="1"/>
              <a:t>secara</a:t>
            </a:r>
            <a:r>
              <a:rPr lang="en-AU" dirty="0"/>
              <a:t>  </a:t>
            </a:r>
            <a:r>
              <a:rPr lang="en-AU" dirty="0" err="1"/>
              <a:t>hati-hati</a:t>
            </a:r>
            <a:r>
              <a:rPr lang="en-AU" dirty="0"/>
              <a:t> </a:t>
            </a:r>
            <a:r>
              <a:rPr lang="en-AU" dirty="0" err="1"/>
              <a:t>untuk</a:t>
            </a:r>
            <a:r>
              <a:rPr lang="en-AU" dirty="0"/>
              <a:t> </a:t>
            </a:r>
            <a:r>
              <a:rPr lang="en-AU" dirty="0" err="1"/>
              <a:t>analisis</a:t>
            </a:r>
            <a:r>
              <a:rPr lang="en-AU" dirty="0"/>
              <a:t> </a:t>
            </a:r>
            <a:r>
              <a:rPr lang="en-AU" dirty="0" err="1"/>
              <a:t>penerapan</a:t>
            </a:r>
            <a:r>
              <a:rPr lang="en-AU" dirty="0"/>
              <a:t> yang </a:t>
            </a:r>
            <a:r>
              <a:rPr lang="en-AU" dirty="0" err="1"/>
              <a:t>jelas</a:t>
            </a:r>
            <a:endParaRPr lang="en-AU" dirty="0"/>
          </a:p>
          <a:p>
            <a:r>
              <a:rPr lang="en-AU" dirty="0" err="1"/>
              <a:t>Penelitian</a:t>
            </a:r>
            <a:r>
              <a:rPr lang="en-AU" dirty="0"/>
              <a:t> yang </a:t>
            </a:r>
            <a:r>
              <a:rPr lang="en-AU" dirty="0" err="1"/>
              <a:t>menjawab</a:t>
            </a:r>
            <a:r>
              <a:rPr lang="en-AU" dirty="0"/>
              <a:t> </a:t>
            </a:r>
            <a:r>
              <a:rPr lang="en-AU" dirty="0" err="1"/>
              <a:t>masalah</a:t>
            </a:r>
            <a:r>
              <a:rPr lang="en-AU" dirty="0"/>
              <a:t> yang </a:t>
            </a:r>
            <a:r>
              <a:rPr lang="en-AU" dirty="0" err="1"/>
              <a:t>belum</a:t>
            </a:r>
            <a:r>
              <a:rPr lang="en-AU" dirty="0"/>
              <a:t> </a:t>
            </a:r>
            <a:r>
              <a:rPr lang="en-AU" dirty="0" err="1"/>
              <a:t>terselesaikan</a:t>
            </a:r>
            <a:endParaRPr lang="en-AU" dirty="0"/>
          </a:p>
          <a:p>
            <a:r>
              <a:rPr lang="en-AU" dirty="0"/>
              <a:t>Dan lain-lain</a:t>
            </a:r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Karakteristik</a:t>
            </a:r>
            <a:r>
              <a:rPr lang="en-AU" dirty="0"/>
              <a:t> </a:t>
            </a:r>
            <a:r>
              <a:rPr lang="en-AU" dirty="0" err="1"/>
              <a:t>Penelitian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423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On the basis of nature of information:  On the basis of nature of information we can classify the research into two types; </a:t>
            </a:r>
          </a:p>
          <a:p>
            <a:pPr lvl="1"/>
            <a:r>
              <a:rPr lang="en-AU" dirty="0"/>
              <a:t>Qualitative Research: When information is in the form of qualitative data. </a:t>
            </a:r>
          </a:p>
          <a:p>
            <a:pPr lvl="1"/>
            <a:r>
              <a:rPr lang="en-AU" dirty="0"/>
              <a:t>Quantitative Research: When information is in the form of quantitative data. </a:t>
            </a:r>
          </a:p>
          <a:p>
            <a:r>
              <a:rPr lang="en-AU" dirty="0"/>
              <a:t>On the basis of utility of content or nature of subject matter of research: On the basis of these criteria we can categorize the research into two categories. </a:t>
            </a:r>
          </a:p>
          <a:p>
            <a:pPr lvl="1"/>
            <a:r>
              <a:rPr lang="en-AU" dirty="0"/>
              <a:t>Basic/ Fundamental /pure or Theoretical Research: Its utility is universal. </a:t>
            </a:r>
          </a:p>
          <a:p>
            <a:pPr lvl="1"/>
            <a:r>
              <a:rPr lang="en-AU" dirty="0"/>
              <a:t>Experimental or Applied Research: Its utility is limited.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Tipe-Tipe</a:t>
            </a:r>
            <a:r>
              <a:rPr lang="en-AU" dirty="0"/>
              <a:t> </a:t>
            </a:r>
            <a:r>
              <a:rPr lang="en-AU" dirty="0" err="1"/>
              <a:t>Penelitian</a:t>
            </a:r>
            <a:r>
              <a:rPr lang="en-AU" dirty="0"/>
              <a:t> (1)</a:t>
            </a:r>
          </a:p>
        </p:txBody>
      </p:sp>
    </p:spTree>
    <p:extLst>
      <p:ext uri="{BB962C8B-B14F-4D97-AF65-F5344CB8AC3E}">
        <p14:creationId xmlns:p14="http://schemas.microsoft.com/office/powerpoint/2010/main" val="3160871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On the basis of approach of research: We may classify research into   two   different categories. </a:t>
            </a:r>
          </a:p>
          <a:p>
            <a:pPr lvl="1"/>
            <a:r>
              <a:rPr lang="en-AU" dirty="0"/>
              <a:t>Longitudinal Research: Examples of this category are historical, Case study and Genetic research. </a:t>
            </a:r>
          </a:p>
          <a:p>
            <a:pPr lvl="1"/>
            <a:r>
              <a:rPr lang="en-AU" dirty="0"/>
              <a:t>Cross-Sectional Research: Examples of this category are Experimental and Survey Research. </a:t>
            </a:r>
          </a:p>
          <a:p>
            <a:r>
              <a:rPr lang="en-AU" dirty="0"/>
              <a:t>On the basis of method of research :  On the basis of research method we may classify a research into five different categories. </a:t>
            </a:r>
          </a:p>
          <a:p>
            <a:pPr lvl="1"/>
            <a:r>
              <a:rPr lang="en-AU" dirty="0"/>
              <a:t>Philosophical Research: It is purely qualitative in nature and we are focusing on the vision of others on the content of research. </a:t>
            </a:r>
          </a:p>
          <a:p>
            <a:pPr lvl="1"/>
            <a:r>
              <a:rPr lang="en-AU" dirty="0"/>
              <a:t>Historical Research: It is both qualitative as well as quantitative in nature and deals with past events.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Tipe-Tipe</a:t>
            </a:r>
            <a:r>
              <a:rPr lang="en-AU" dirty="0"/>
              <a:t> </a:t>
            </a:r>
            <a:r>
              <a:rPr lang="en-AU" dirty="0" err="1"/>
              <a:t>Penelitian</a:t>
            </a:r>
            <a:r>
              <a:rPr lang="en-AU" dirty="0"/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321186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On the basis of method of research :  On the basis of research method we may classify a research into five different categories. </a:t>
            </a:r>
          </a:p>
          <a:p>
            <a:pPr lvl="1"/>
            <a:r>
              <a:rPr lang="en-AU"/>
              <a:t>Survey </a:t>
            </a:r>
            <a:r>
              <a:rPr lang="en-AU" dirty="0"/>
              <a:t>Research: It deals with present events and is quantitative in nature. It may further be sub-divided into; discretional, correlational and exploratory type of research. </a:t>
            </a:r>
          </a:p>
          <a:p>
            <a:pPr lvl="1"/>
            <a:r>
              <a:rPr lang="en-AU" dirty="0"/>
              <a:t>Experimental Research: This is purely quantitative in nature and deals with future events. </a:t>
            </a:r>
          </a:p>
          <a:p>
            <a:pPr lvl="1"/>
            <a:r>
              <a:rPr lang="en-AU" dirty="0"/>
              <a:t>Case-Study Research: It deals with unusual events. It may be qualitative as well as quantitative in nature depending upon the content.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Tipe-Tipe</a:t>
            </a:r>
            <a:r>
              <a:rPr lang="en-AU" dirty="0"/>
              <a:t> </a:t>
            </a:r>
            <a:r>
              <a:rPr lang="en-AU" dirty="0" err="1"/>
              <a:t>Penelitian</a:t>
            </a:r>
            <a:r>
              <a:rPr lang="en-AU" dirty="0"/>
              <a:t> (3)</a:t>
            </a:r>
          </a:p>
        </p:txBody>
      </p:sp>
    </p:spTree>
    <p:extLst>
      <p:ext uri="{BB962C8B-B14F-4D97-AF65-F5344CB8AC3E}">
        <p14:creationId xmlns:p14="http://schemas.microsoft.com/office/powerpoint/2010/main" val="3174807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2C05B2-F133-9EB8-1FB4-BA575C1F4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Cari </a:t>
            </a:r>
            <a:r>
              <a:rPr lang="en-US" dirty="0" err="1"/>
              <a:t>permasalahan</a:t>
            </a:r>
            <a:r>
              <a:rPr lang="en-US" dirty="0"/>
              <a:t> </a:t>
            </a:r>
            <a:r>
              <a:rPr lang="en-US" dirty="0" err="1"/>
              <a:t>riset</a:t>
            </a:r>
            <a:r>
              <a:rPr lang="en-US" dirty="0"/>
              <a:t> pada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proposal </a:t>
            </a:r>
            <a:r>
              <a:rPr lang="en-US" dirty="0" err="1"/>
              <a:t>tesis</a:t>
            </a:r>
            <a:endParaRPr lang="en-US" dirty="0"/>
          </a:p>
          <a:p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/>
              <a:t>diteliti</a:t>
            </a:r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3C9A5A-7F06-872C-D56F-70DF54E5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021186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1109</TotalTime>
  <Words>599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Pendahuluan I  Arti, Tujuan, Motivasi, dan  Tipe-Tipe dari Penelitian </vt:lpstr>
      <vt:lpstr>Agenda</vt:lpstr>
      <vt:lpstr>Arti Penelitian</vt:lpstr>
      <vt:lpstr>Tujuan Penelitian</vt:lpstr>
      <vt:lpstr>Motivasi penelitian</vt:lpstr>
      <vt:lpstr>Karakteristik Penelitian</vt:lpstr>
      <vt:lpstr>Tipe-Tipe Penelitian (1)</vt:lpstr>
      <vt:lpstr>Tipe-Tipe Penelitian (2)</vt:lpstr>
      <vt:lpstr>Tipe-Tipe Penelitian (3)</vt:lpstr>
      <vt:lpstr>Tugas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Dasar Karya Ilmiah, Jenis dan Media Publikasi Ilmiah</dc:title>
  <dc:creator>User</dc:creator>
  <cp:lastModifiedBy>Nasaruddin Syafie</cp:lastModifiedBy>
  <cp:revision>81</cp:revision>
  <dcterms:created xsi:type="dcterms:W3CDTF">2012-07-24T15:26:35Z</dcterms:created>
  <dcterms:modified xsi:type="dcterms:W3CDTF">2026-02-20T02:12:23Z</dcterms:modified>
</cp:coreProperties>
</file>